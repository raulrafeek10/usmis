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95" r:id="rId3"/>
    <p:sldId id="296" r:id="rId4"/>
    <p:sldId id="297" r:id="rId5"/>
    <p:sldId id="276" r:id="rId6"/>
    <p:sldId id="277" r:id="rId7"/>
    <p:sldId id="298" r:id="rId8"/>
    <p:sldId id="278" r:id="rId9"/>
    <p:sldId id="279" r:id="rId10"/>
    <p:sldId id="299" r:id="rId11"/>
    <p:sldId id="300" r:id="rId12"/>
    <p:sldId id="280" r:id="rId13"/>
    <p:sldId id="281" r:id="rId14"/>
    <p:sldId id="282" r:id="rId15"/>
    <p:sldId id="283" r:id="rId16"/>
    <p:sldId id="284"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22"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1F0F9B-4E7F-4544-B22E-1DBBBA699338}" type="datetimeFigureOut">
              <a:rPr lang="en-US" smtClean="0"/>
              <a:t>5/13/2021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864056-A11E-4211-9130-9948B12483FD}" type="slidenum">
              <a:rPr lang="en-US" smtClean="0"/>
              <a:t>‹#›</a:t>
            </a:fld>
            <a:endParaRPr lang="en-US"/>
          </a:p>
        </p:txBody>
      </p:sp>
    </p:spTree>
    <p:extLst>
      <p:ext uri="{BB962C8B-B14F-4D97-AF65-F5344CB8AC3E}">
        <p14:creationId xmlns:p14="http://schemas.microsoft.com/office/powerpoint/2010/main" val="2595144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859A54E-4ABF-4D88-ADC5-0AB97295AF25}" type="slidenum">
              <a:rPr lang="en-US" altLang="en-US" smtClean="0">
                <a:cs typeface="Arial" charset="0"/>
              </a:rPr>
              <a:pPr>
                <a:spcBef>
                  <a:spcPct val="0"/>
                </a:spcBef>
              </a:pPr>
              <a:t>5</a:t>
            </a:fld>
            <a:endParaRPr lang="en-US" altLang="en-US">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859A54E-4ABF-4D88-ADC5-0AB97295AF25}" type="slidenum">
              <a:rPr lang="en-US" altLang="en-US" smtClean="0">
                <a:cs typeface="Arial" charset="0"/>
              </a:rPr>
              <a:pPr>
                <a:spcBef>
                  <a:spcPct val="0"/>
                </a:spcBef>
              </a:pPr>
              <a:t>9</a:t>
            </a:fld>
            <a:endParaRPr lang="en-US" altLang="en-US">
              <a:cs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859A54E-4ABF-4D88-ADC5-0AB97295AF25}" type="slidenum">
              <a:rPr lang="en-US" altLang="en-US" smtClean="0">
                <a:cs typeface="Arial" charset="0"/>
              </a:rPr>
              <a:pPr>
                <a:spcBef>
                  <a:spcPct val="0"/>
                </a:spcBef>
              </a:pPr>
              <a:t>12</a:t>
            </a:fld>
            <a:endParaRPr lang="en-US" altLang="en-US">
              <a:cs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859A54E-4ABF-4D88-ADC5-0AB97295AF25}" type="slidenum">
              <a:rPr lang="en-US" altLang="en-US" smtClean="0">
                <a:cs typeface="Arial" charset="0"/>
              </a:rPr>
              <a:pPr>
                <a:spcBef>
                  <a:spcPct val="0"/>
                </a:spcBef>
              </a:pPr>
              <a:t>13</a:t>
            </a:fld>
            <a:endParaRPr lang="en-US" altLang="en-US">
              <a:cs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859A54E-4ABF-4D88-ADC5-0AB97295AF25}" type="slidenum">
              <a:rPr lang="en-US" altLang="en-US" smtClean="0">
                <a:cs typeface="Arial" charset="0"/>
              </a:rPr>
              <a:pPr>
                <a:spcBef>
                  <a:spcPct val="0"/>
                </a:spcBef>
              </a:pPr>
              <a:t>14</a:t>
            </a:fld>
            <a:endParaRPr lang="en-US" altLang="en-US">
              <a:cs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6859A54E-4ABF-4D88-ADC5-0AB97295AF25}" type="slidenum">
              <a:rPr lang="en-US" altLang="en-US" smtClean="0">
                <a:cs typeface="Arial" charset="0"/>
              </a:rPr>
              <a:pPr>
                <a:spcBef>
                  <a:spcPct val="0"/>
                </a:spcBef>
              </a:pPr>
              <a:t>15</a:t>
            </a:fld>
            <a:endParaRPr lang="en-US" altLang="en-US">
              <a:cs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77156F2-D81F-4E2F-B320-B9FE461495CE}" type="datetimeFigureOut">
              <a:rPr lang="en-US" smtClean="0"/>
              <a:t>5/13/2021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4005279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7156F2-D81F-4E2F-B320-B9FE461495CE}" type="datetimeFigureOut">
              <a:rPr lang="en-US" smtClean="0"/>
              <a:t>5/13/2021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1159802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7156F2-D81F-4E2F-B320-B9FE461495CE}" type="datetimeFigureOut">
              <a:rPr lang="en-US" smtClean="0"/>
              <a:t>5/13/2021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337999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7156F2-D81F-4E2F-B320-B9FE461495CE}" type="datetimeFigureOut">
              <a:rPr lang="en-US" smtClean="0"/>
              <a:t>5/13/2021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2422542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77156F2-D81F-4E2F-B320-B9FE461495CE}" type="datetimeFigureOut">
              <a:rPr lang="en-US" smtClean="0"/>
              <a:t>5/13/2021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4141727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7156F2-D81F-4E2F-B320-B9FE461495CE}" type="datetimeFigureOut">
              <a:rPr lang="en-US" smtClean="0"/>
              <a:t>5/13/2021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2225109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7156F2-D81F-4E2F-B320-B9FE461495CE}" type="datetimeFigureOut">
              <a:rPr lang="en-US" smtClean="0"/>
              <a:t>5/13/2021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2631727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7156F2-D81F-4E2F-B320-B9FE461495CE}" type="datetimeFigureOut">
              <a:rPr lang="en-US" smtClean="0"/>
              <a:t>5/13/2021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3733577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7156F2-D81F-4E2F-B320-B9FE461495CE}" type="datetimeFigureOut">
              <a:rPr lang="en-US" smtClean="0"/>
              <a:t>5/13/2021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2443480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7156F2-D81F-4E2F-B320-B9FE461495CE}" type="datetimeFigureOut">
              <a:rPr lang="en-US" smtClean="0"/>
              <a:t>5/13/2021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798942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7156F2-D81F-4E2F-B320-B9FE461495CE}" type="datetimeFigureOut">
              <a:rPr lang="en-US" smtClean="0"/>
              <a:t>5/13/2021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A19A60-3B17-4BC5-B33A-FE0BAD07B78E}" type="slidenum">
              <a:rPr lang="en-US" smtClean="0"/>
              <a:t>‹#›</a:t>
            </a:fld>
            <a:endParaRPr lang="en-US"/>
          </a:p>
        </p:txBody>
      </p:sp>
    </p:spTree>
    <p:extLst>
      <p:ext uri="{BB962C8B-B14F-4D97-AF65-F5344CB8AC3E}">
        <p14:creationId xmlns:p14="http://schemas.microsoft.com/office/powerpoint/2010/main" val="404723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7156F2-D81F-4E2F-B320-B9FE461495CE}" type="datetimeFigureOut">
              <a:rPr lang="en-US" smtClean="0"/>
              <a:t>5/13/2021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A19A60-3B17-4BC5-B33A-FE0BAD07B78E}" type="slidenum">
              <a:rPr lang="en-US" smtClean="0"/>
              <a:t>‹#›</a:t>
            </a:fld>
            <a:endParaRPr lang="en-US"/>
          </a:p>
        </p:txBody>
      </p:sp>
    </p:spTree>
    <p:extLst>
      <p:ext uri="{BB962C8B-B14F-4D97-AF65-F5344CB8AC3E}">
        <p14:creationId xmlns:p14="http://schemas.microsoft.com/office/powerpoint/2010/main" val="1117448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1470025"/>
          </a:xfrm>
        </p:spPr>
        <p:txBody>
          <a:bodyPr/>
          <a:lstStyle/>
          <a:p>
            <a:r>
              <a:rPr lang="en-US" b="1" dirty="0"/>
              <a:t>Decision Support Systems</a:t>
            </a:r>
          </a:p>
        </p:txBody>
      </p:sp>
      <p:sp>
        <p:nvSpPr>
          <p:cNvPr id="3" name="Subtitle 2"/>
          <p:cNvSpPr>
            <a:spLocks noGrp="1"/>
          </p:cNvSpPr>
          <p:nvPr>
            <p:ph type="subTitle" idx="1"/>
          </p:nvPr>
        </p:nvSpPr>
        <p:spPr>
          <a:xfrm>
            <a:off x="1295400" y="1676400"/>
            <a:ext cx="6629400" cy="1447800"/>
          </a:xfrm>
        </p:spPr>
        <p:txBody>
          <a:bodyPr>
            <a:normAutofit fontScale="70000" lnSpcReduction="20000"/>
          </a:bodyPr>
          <a:lstStyle/>
          <a:p>
            <a:r>
              <a:rPr lang="en-US" dirty="0"/>
              <a:t> </a:t>
            </a:r>
            <a:r>
              <a:rPr lang="en-US" b="1" dirty="0">
                <a:solidFill>
                  <a:srgbClr val="FF0000"/>
                </a:solidFill>
              </a:rPr>
              <a:t>Decision Support Systems Concepts, Methodologies, and Technologies:</a:t>
            </a:r>
          </a:p>
          <a:p>
            <a:r>
              <a:rPr lang="en-US" b="1" dirty="0">
                <a:solidFill>
                  <a:srgbClr val="FF0000"/>
                </a:solidFill>
              </a:rPr>
              <a:t> An Overview </a:t>
            </a:r>
          </a:p>
          <a:p>
            <a:r>
              <a:rPr lang="en-US" b="1" dirty="0">
                <a:solidFill>
                  <a:schemeClr val="tx2">
                    <a:lumMod val="75000"/>
                  </a:schemeClr>
                </a:solidFill>
              </a:rPr>
              <a:t>Lecture 6</a:t>
            </a:r>
          </a:p>
        </p:txBody>
      </p:sp>
      <p:pic>
        <p:nvPicPr>
          <p:cNvPr id="1026" name="Picture 2" descr="Image result for decision support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581400"/>
            <a:ext cx="8162925"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2479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8B6FEF-D996-492F-B1B7-43C5AA39FE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142999"/>
            <a:ext cx="8839200" cy="5594555"/>
          </a:xfrm>
          <a:prstGeom prst="rect">
            <a:avLst/>
          </a:prstGeom>
        </p:spPr>
      </p:pic>
      <p:sp>
        <p:nvSpPr>
          <p:cNvPr id="4" name="TextBox 3">
            <a:extLst>
              <a:ext uri="{FF2B5EF4-FFF2-40B4-BE49-F238E27FC236}">
                <a16:creationId xmlns:a16="http://schemas.microsoft.com/office/drawing/2014/main" id="{FF6C4FFB-D028-49C8-9876-FFCA81FBC462}"/>
              </a:ext>
            </a:extLst>
          </p:cNvPr>
          <p:cNvSpPr txBox="1"/>
          <p:nvPr/>
        </p:nvSpPr>
        <p:spPr>
          <a:xfrm>
            <a:off x="342900" y="36493"/>
            <a:ext cx="8458200" cy="954107"/>
          </a:xfrm>
          <a:prstGeom prst="rect">
            <a:avLst/>
          </a:prstGeom>
          <a:noFill/>
        </p:spPr>
        <p:txBody>
          <a:bodyPr wrap="square" rtlCol="0">
            <a:spAutoFit/>
          </a:bodyPr>
          <a:lstStyle/>
          <a:p>
            <a:pPr algn="ctr"/>
            <a:r>
              <a:rPr lang="en-US" sz="2800" b="1" dirty="0"/>
              <a:t>Integrated Model for Decision-Making Process, </a:t>
            </a:r>
          </a:p>
          <a:p>
            <a:pPr algn="ctr"/>
            <a:r>
              <a:rPr lang="en-US" sz="2800" b="1" dirty="0"/>
              <a:t>Big Data, and BI Tools </a:t>
            </a:r>
          </a:p>
        </p:txBody>
      </p:sp>
    </p:spTree>
    <p:extLst>
      <p:ext uri="{BB962C8B-B14F-4D97-AF65-F5344CB8AC3E}">
        <p14:creationId xmlns:p14="http://schemas.microsoft.com/office/powerpoint/2010/main" val="1951348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22125-1E4C-4A96-A6A5-E4BAB47AB07B}"/>
              </a:ext>
            </a:extLst>
          </p:cNvPr>
          <p:cNvSpPr>
            <a:spLocks noGrp="1"/>
          </p:cNvSpPr>
          <p:nvPr>
            <p:ph type="title"/>
          </p:nvPr>
        </p:nvSpPr>
        <p:spPr>
          <a:xfrm>
            <a:off x="457200" y="0"/>
            <a:ext cx="8229600" cy="1143000"/>
          </a:xfrm>
        </p:spPr>
        <p:txBody>
          <a:bodyPr>
            <a:normAutofit fontScale="90000"/>
          </a:bodyPr>
          <a:lstStyle/>
          <a:p>
            <a:r>
              <a:rPr lang="en-US" dirty="0"/>
              <a:t>The main contributions of the previous model are </a:t>
            </a:r>
          </a:p>
        </p:txBody>
      </p:sp>
      <p:sp>
        <p:nvSpPr>
          <p:cNvPr id="3" name="Content Placeholder 2">
            <a:extLst>
              <a:ext uri="{FF2B5EF4-FFF2-40B4-BE49-F238E27FC236}">
                <a16:creationId xmlns:a16="http://schemas.microsoft.com/office/drawing/2014/main" id="{E98B84AE-C7B1-48FE-AB28-889CA7AC114F}"/>
              </a:ext>
            </a:extLst>
          </p:cNvPr>
          <p:cNvSpPr>
            <a:spLocks noGrp="1"/>
          </p:cNvSpPr>
          <p:nvPr>
            <p:ph idx="1"/>
          </p:nvPr>
        </p:nvSpPr>
        <p:spPr>
          <a:xfrm>
            <a:off x="152400" y="1524000"/>
            <a:ext cx="8839200" cy="5257800"/>
          </a:xfrm>
        </p:spPr>
        <p:txBody>
          <a:bodyPr>
            <a:normAutofit fontScale="92500" lnSpcReduction="10000"/>
          </a:bodyPr>
          <a:lstStyle/>
          <a:p>
            <a:pPr marL="514350" indent="-514350" algn="just">
              <a:buAutoNum type="arabicPeriod"/>
            </a:pPr>
            <a:r>
              <a:rPr lang="en-US" dirty="0"/>
              <a:t>Develop a perspective that combines the decision-making process, Big Data, BI, DSS, and organizational learning. </a:t>
            </a:r>
          </a:p>
          <a:p>
            <a:pPr marL="514350" indent="-514350" algn="just">
              <a:buAutoNum type="arabicPeriod"/>
            </a:pPr>
            <a:r>
              <a:rPr lang="en-US" dirty="0"/>
              <a:t>Use the concept that Big Data works as a data provider over which may be applied BI techniques and tools may be applied mainly in supporting the discovery of alternatives for a decision.</a:t>
            </a:r>
          </a:p>
          <a:p>
            <a:pPr marL="0" indent="0" algn="just">
              <a:buNone/>
            </a:pPr>
            <a:r>
              <a:rPr lang="en-US" b="1" dirty="0">
                <a:solidFill>
                  <a:srgbClr val="FF0000"/>
                </a:solidFill>
              </a:rPr>
              <a:t>BI Techniques: </a:t>
            </a:r>
            <a:r>
              <a:rPr lang="en-US" dirty="0"/>
              <a:t>Predictive Modeling - Characterization and descriptive data mining </a:t>
            </a:r>
          </a:p>
          <a:p>
            <a:pPr marL="0" indent="0" algn="just">
              <a:buNone/>
            </a:pPr>
            <a:r>
              <a:rPr lang="en-US" b="1" dirty="0">
                <a:solidFill>
                  <a:srgbClr val="FF0000"/>
                </a:solidFill>
              </a:rPr>
              <a:t>BI Tools: </a:t>
            </a:r>
            <a:r>
              <a:rPr lang="en-US" dirty="0"/>
              <a:t>Domo BI – Dundas BI - IBM Cognos Analytics – Style Intelligence</a:t>
            </a:r>
          </a:p>
        </p:txBody>
      </p:sp>
    </p:spTree>
    <p:extLst>
      <p:ext uri="{BB962C8B-B14F-4D97-AF65-F5344CB8AC3E}">
        <p14:creationId xmlns:p14="http://schemas.microsoft.com/office/powerpoint/2010/main" val="3535701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F6466C-2F16-4B63-BD6A-6FC99A6BA897}"/>
              </a:ext>
            </a:extLst>
          </p:cNvPr>
          <p:cNvSpPr>
            <a:spLocks noGrp="1"/>
          </p:cNvSpPr>
          <p:nvPr>
            <p:ph idx="1"/>
          </p:nvPr>
        </p:nvSpPr>
        <p:spPr>
          <a:xfrm>
            <a:off x="152400" y="228600"/>
            <a:ext cx="8686800" cy="6400800"/>
          </a:xfrm>
        </p:spPr>
        <p:txBody>
          <a:bodyPr>
            <a:normAutofit/>
          </a:bodyPr>
          <a:lstStyle/>
          <a:p>
            <a:pPr marL="0" indent="0" algn="just">
              <a:buNone/>
            </a:pPr>
            <a:r>
              <a:rPr lang="en-US" sz="3600" b="1" dirty="0">
                <a:solidFill>
                  <a:srgbClr val="FF0000"/>
                </a:solidFill>
              </a:rPr>
              <a:t>Forms of Data Analytics:</a:t>
            </a:r>
          </a:p>
          <a:p>
            <a:pPr marL="0" indent="0" algn="just">
              <a:buNone/>
            </a:pPr>
            <a:endParaRPr lang="en-US" sz="900" b="1" dirty="0">
              <a:solidFill>
                <a:srgbClr val="FF0000"/>
              </a:solidFill>
            </a:endParaRPr>
          </a:p>
          <a:p>
            <a:pPr algn="just"/>
            <a:r>
              <a:rPr lang="en-US" sz="3600" dirty="0"/>
              <a:t>Descriptive Analytics tells you what happened in the past.</a:t>
            </a:r>
          </a:p>
          <a:p>
            <a:pPr algn="just"/>
            <a:r>
              <a:rPr lang="en-US" sz="3600" dirty="0"/>
              <a:t>Diagnostic Analytics helps you understand why something happened in the past. </a:t>
            </a:r>
          </a:p>
          <a:p>
            <a:pPr algn="just"/>
            <a:r>
              <a:rPr lang="en-US" sz="3600" dirty="0"/>
              <a:t> Predictive Analytics predicts what is most likely to happen in the future. </a:t>
            </a:r>
          </a:p>
          <a:p>
            <a:pPr algn="just"/>
            <a:r>
              <a:rPr lang="en-US" sz="3600" dirty="0"/>
              <a:t>Prescriptive Analytics recommends actions you can take to affect those outcomes. </a:t>
            </a:r>
          </a:p>
        </p:txBody>
      </p:sp>
    </p:spTree>
    <p:extLst>
      <p:ext uri="{BB962C8B-B14F-4D97-AF65-F5344CB8AC3E}">
        <p14:creationId xmlns:p14="http://schemas.microsoft.com/office/powerpoint/2010/main" val="2517511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lstStyle/>
          <a:p>
            <a:pPr>
              <a:defRPr/>
            </a:pPr>
            <a:r>
              <a:rPr lang="en-US" b="1" dirty="0"/>
              <a:t>DSS Description</a:t>
            </a:r>
            <a:endParaRPr lang="en-US" dirty="0"/>
          </a:p>
        </p:txBody>
      </p:sp>
      <p:sp>
        <p:nvSpPr>
          <p:cNvPr id="25603" name="Content Placeholder 2"/>
          <p:cNvSpPr>
            <a:spLocks noGrp="1"/>
          </p:cNvSpPr>
          <p:nvPr>
            <p:ph idx="1"/>
          </p:nvPr>
        </p:nvSpPr>
        <p:spPr>
          <a:xfrm>
            <a:off x="152400" y="1524000"/>
            <a:ext cx="8839200" cy="5105400"/>
          </a:xfrm>
        </p:spPr>
        <p:txBody>
          <a:bodyPr>
            <a:normAutofit fontScale="92500" lnSpcReduction="20000"/>
          </a:bodyPr>
          <a:lstStyle/>
          <a:p>
            <a:pPr marL="0" indent="0" algn="just">
              <a:buNone/>
            </a:pPr>
            <a:r>
              <a:rPr lang="en-US" b="1" dirty="0">
                <a:solidFill>
                  <a:srgbClr val="FF0000"/>
                </a:solidFill>
              </a:rPr>
              <a:t>DSS is an approach (or methodology) for supporting decision making </a:t>
            </a:r>
          </a:p>
          <a:p>
            <a:pPr algn="just"/>
            <a:r>
              <a:rPr lang="en-US" dirty="0"/>
              <a:t>uses an interactive, flexible, adaptable Computer-based Information System (CBIS) </a:t>
            </a:r>
          </a:p>
          <a:p>
            <a:pPr algn="just"/>
            <a:r>
              <a:rPr lang="en-US" dirty="0"/>
              <a:t>developed (by end user) for supporting the solution to a specific unstructured management problem </a:t>
            </a:r>
          </a:p>
          <a:p>
            <a:pPr algn="just"/>
            <a:r>
              <a:rPr lang="en-US" dirty="0"/>
              <a:t>uses data, model and knowledge along with a friendly (often graphical; Web-based) user interface </a:t>
            </a:r>
          </a:p>
          <a:p>
            <a:pPr algn="just"/>
            <a:r>
              <a:rPr lang="en-US" dirty="0"/>
              <a:t>incorporate the decision maker's own insights </a:t>
            </a:r>
          </a:p>
          <a:p>
            <a:pPr algn="just"/>
            <a:r>
              <a:rPr lang="en-US" dirty="0"/>
              <a:t>supports all phases of decision making </a:t>
            </a:r>
          </a:p>
          <a:p>
            <a:pPr algn="just"/>
            <a:r>
              <a:rPr lang="en-US" dirty="0"/>
              <a:t>can be used by a single user or by many people </a:t>
            </a:r>
          </a:p>
        </p:txBody>
      </p:sp>
    </p:spTree>
    <p:extLst>
      <p:ext uri="{BB962C8B-B14F-4D97-AF65-F5344CB8AC3E}">
        <p14:creationId xmlns:p14="http://schemas.microsoft.com/office/powerpoint/2010/main" val="1760385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lstStyle/>
          <a:p>
            <a:r>
              <a:rPr lang="en-US" b="1" dirty="0"/>
              <a:t>A Web-Based DSS Architecture </a:t>
            </a:r>
            <a:endParaRPr lang="en-US" dirty="0"/>
          </a:p>
        </p:txBody>
      </p:sp>
      <p:sp>
        <p:nvSpPr>
          <p:cNvPr id="3" name="Content Placeholder 2"/>
          <p:cNvSpPr>
            <a:spLocks noGrp="1"/>
          </p:cNvSpPr>
          <p:nvPr>
            <p:ph idx="1"/>
          </p:nvPr>
        </p:nvSpPr>
        <p:spPr>
          <a:xfrm>
            <a:off x="152400" y="5791200"/>
            <a:ext cx="8763000" cy="990600"/>
          </a:xfrm>
        </p:spPr>
        <p:txBody>
          <a:bodyPr>
            <a:normAutofit fontScale="70000" lnSpcReduction="20000"/>
          </a:bodyPr>
          <a:lstStyle/>
          <a:p>
            <a:pPr marL="0" indent="0" algn="ctr">
              <a:buNone/>
            </a:pPr>
            <a:r>
              <a:rPr lang="en-US" dirty="0"/>
              <a:t>Web-based should mean the entire application is implemented using Web technologies (Web server, HTML, CGI, and possibly database products like Oracle or SQL server.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838200"/>
            <a:ext cx="8839200" cy="4743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03207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4D96AA-106B-4228-A72E-B24AF0136E83}"/>
              </a:ext>
            </a:extLst>
          </p:cNvPr>
          <p:cNvSpPr>
            <a:spLocks noGrp="1"/>
          </p:cNvSpPr>
          <p:nvPr>
            <p:ph idx="1"/>
          </p:nvPr>
        </p:nvSpPr>
        <p:spPr>
          <a:xfrm>
            <a:off x="381000" y="1371600"/>
            <a:ext cx="8534400" cy="5334000"/>
          </a:xfrm>
        </p:spPr>
        <p:txBody>
          <a:bodyPr>
            <a:normAutofit fontScale="92500" lnSpcReduction="10000"/>
          </a:bodyPr>
          <a:lstStyle/>
          <a:p>
            <a:pPr algn="just"/>
            <a:r>
              <a:rPr lang="en-US" sz="3600" b="1" i="1" dirty="0">
                <a:solidFill>
                  <a:srgbClr val="FF0000"/>
                </a:solidFill>
              </a:rPr>
              <a:t>Common Gateway Interface </a:t>
            </a:r>
            <a:r>
              <a:rPr lang="en-US" sz="3600" dirty="0"/>
              <a:t>is an interface specification that enables web servers to execute an external program, typically to process user requests</a:t>
            </a:r>
          </a:p>
          <a:p>
            <a:pPr algn="just"/>
            <a:r>
              <a:rPr lang="en-US" sz="3600" dirty="0"/>
              <a:t>CGI is a standard for interfacing external applications with information servers, such as HTTP or Web servers. </a:t>
            </a:r>
          </a:p>
          <a:p>
            <a:pPr algn="just"/>
            <a:r>
              <a:rPr lang="en-US" sz="3600" dirty="0"/>
              <a:t>CGI, permits interactivity between a client and a host operating system through the World Wide Web via the Hyper Text Transfer Protocol (HTTP).</a:t>
            </a:r>
          </a:p>
        </p:txBody>
      </p:sp>
      <p:sp>
        <p:nvSpPr>
          <p:cNvPr id="4" name="Title 1">
            <a:extLst>
              <a:ext uri="{FF2B5EF4-FFF2-40B4-BE49-F238E27FC236}">
                <a16:creationId xmlns:a16="http://schemas.microsoft.com/office/drawing/2014/main" id="{84ED7B1E-4A4F-421F-84BF-01870FD6D30E}"/>
              </a:ext>
            </a:extLst>
          </p:cNvPr>
          <p:cNvSpPr>
            <a:spLocks noGrp="1"/>
          </p:cNvSpPr>
          <p:nvPr>
            <p:ph type="title"/>
          </p:nvPr>
        </p:nvSpPr>
        <p:spPr>
          <a:xfrm>
            <a:off x="457200" y="274638"/>
            <a:ext cx="8229600" cy="868362"/>
          </a:xfrm>
        </p:spPr>
        <p:txBody>
          <a:bodyPr/>
          <a:lstStyle/>
          <a:p>
            <a:r>
              <a:rPr lang="en-US" b="1" dirty="0"/>
              <a:t>A Web-Based DSS Architecture </a:t>
            </a:r>
            <a:endParaRPr lang="en-US" dirty="0"/>
          </a:p>
        </p:txBody>
      </p:sp>
    </p:spTree>
    <p:extLst>
      <p:ext uri="{BB962C8B-B14F-4D97-AF65-F5344CB8AC3E}">
        <p14:creationId xmlns:p14="http://schemas.microsoft.com/office/powerpoint/2010/main" val="3547817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normAutofit fontScale="90000"/>
          </a:bodyPr>
          <a:lstStyle/>
          <a:p>
            <a:r>
              <a:rPr lang="en-US" b="1" dirty="0"/>
              <a:t>DSS Characteristics and Capabilities </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3" y="966788"/>
            <a:ext cx="8715375" cy="5815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531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lstStyle/>
          <a:p>
            <a:r>
              <a:rPr lang="en-US" b="1" dirty="0"/>
              <a:t>DSS Classifications </a:t>
            </a:r>
            <a:endParaRPr lang="en-US" dirty="0"/>
          </a:p>
        </p:txBody>
      </p:sp>
      <p:sp>
        <p:nvSpPr>
          <p:cNvPr id="25603" name="Content Placeholder 2"/>
          <p:cNvSpPr>
            <a:spLocks noGrp="1"/>
          </p:cNvSpPr>
          <p:nvPr>
            <p:ph idx="1"/>
          </p:nvPr>
        </p:nvSpPr>
        <p:spPr>
          <a:xfrm>
            <a:off x="152400" y="1219200"/>
            <a:ext cx="8839200" cy="5410200"/>
          </a:xfrm>
        </p:spPr>
        <p:txBody>
          <a:bodyPr>
            <a:normAutofit fontScale="85000" lnSpcReduction="10000"/>
          </a:bodyPr>
          <a:lstStyle/>
          <a:p>
            <a:pPr algn="just"/>
            <a:r>
              <a:rPr lang="en-US" dirty="0"/>
              <a:t>There are 3 types: Passive, active, and cooperative DSS. </a:t>
            </a:r>
          </a:p>
          <a:p>
            <a:pPr algn="just"/>
            <a:r>
              <a:rPr lang="en-US" dirty="0">
                <a:solidFill>
                  <a:srgbClr val="FF0000"/>
                </a:solidFill>
              </a:rPr>
              <a:t>A passive DSS </a:t>
            </a:r>
            <a:r>
              <a:rPr lang="en-US" dirty="0"/>
              <a:t>is a system that aids the process of decision making, but that cannot bring out explicit decision suggestions or solutions. </a:t>
            </a:r>
          </a:p>
          <a:p>
            <a:pPr algn="just"/>
            <a:r>
              <a:rPr lang="en-US" dirty="0">
                <a:solidFill>
                  <a:srgbClr val="FF0000"/>
                </a:solidFill>
              </a:rPr>
              <a:t>An active DSS </a:t>
            </a:r>
            <a:r>
              <a:rPr lang="en-US" dirty="0"/>
              <a:t>can bring out such decision suggestions or solutions </a:t>
            </a:r>
          </a:p>
          <a:p>
            <a:pPr algn="just"/>
            <a:r>
              <a:rPr lang="en-US" dirty="0">
                <a:solidFill>
                  <a:srgbClr val="FF0000"/>
                </a:solidFill>
              </a:rPr>
              <a:t>A cooperative DSS </a:t>
            </a:r>
            <a:r>
              <a:rPr lang="en-US" dirty="0"/>
              <a:t>allows the decision maker (or its advisor) to modify, complete, or refine the decision suggestions provided by the system, before sending them back to the system for validation. The system again improves, completes, and refines the suggestions of the decision maker and sends them back to the decision maker for validation </a:t>
            </a:r>
          </a:p>
        </p:txBody>
      </p:sp>
    </p:spTree>
    <p:extLst>
      <p:ext uri="{BB962C8B-B14F-4D97-AF65-F5344CB8AC3E}">
        <p14:creationId xmlns:p14="http://schemas.microsoft.com/office/powerpoint/2010/main" val="586619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DE4D6-25EC-4804-8596-D49C47B74AAB}"/>
              </a:ext>
            </a:extLst>
          </p:cNvPr>
          <p:cNvSpPr>
            <a:spLocks noGrp="1"/>
          </p:cNvSpPr>
          <p:nvPr>
            <p:ph type="title"/>
          </p:nvPr>
        </p:nvSpPr>
        <p:spPr>
          <a:xfrm>
            <a:off x="457200" y="76200"/>
            <a:ext cx="8229600" cy="868362"/>
          </a:xfrm>
        </p:spPr>
        <p:txBody>
          <a:bodyPr/>
          <a:lstStyle/>
          <a:p>
            <a:r>
              <a:rPr lang="en-US" b="1" dirty="0"/>
              <a:t>Other DSS Categories </a:t>
            </a:r>
          </a:p>
        </p:txBody>
      </p:sp>
      <p:sp>
        <p:nvSpPr>
          <p:cNvPr id="3" name="Content Placeholder 2">
            <a:extLst>
              <a:ext uri="{FF2B5EF4-FFF2-40B4-BE49-F238E27FC236}">
                <a16:creationId xmlns:a16="http://schemas.microsoft.com/office/drawing/2014/main" id="{16CB0F8D-3897-4C43-AE1C-C671C6DA5257}"/>
              </a:ext>
            </a:extLst>
          </p:cNvPr>
          <p:cNvSpPr>
            <a:spLocks noGrp="1"/>
          </p:cNvSpPr>
          <p:nvPr>
            <p:ph idx="1"/>
          </p:nvPr>
        </p:nvSpPr>
        <p:spPr/>
        <p:txBody>
          <a:bodyPr/>
          <a:lstStyle/>
          <a:p>
            <a:pPr marL="0" indent="0">
              <a:buNone/>
            </a:pPr>
            <a:r>
              <a:rPr lang="en-US" b="1" dirty="0">
                <a:solidFill>
                  <a:srgbClr val="FF0000"/>
                </a:solidFill>
              </a:rPr>
              <a:t>Institutional and ad-hoc DSS </a:t>
            </a:r>
          </a:p>
          <a:p>
            <a:pPr marL="0" indent="0">
              <a:buNone/>
            </a:pPr>
            <a:endParaRPr lang="en-US" dirty="0"/>
          </a:p>
          <a:p>
            <a:r>
              <a:rPr lang="en-US" dirty="0"/>
              <a:t>Institutional :Problems of recurring nature</a:t>
            </a:r>
          </a:p>
          <a:p>
            <a:r>
              <a:rPr lang="en-US" dirty="0"/>
              <a:t> Ad hoc :Problems that are not anticipated or are not repetitive</a:t>
            </a:r>
          </a:p>
        </p:txBody>
      </p:sp>
    </p:spTree>
    <p:extLst>
      <p:ext uri="{BB962C8B-B14F-4D97-AF65-F5344CB8AC3E}">
        <p14:creationId xmlns:p14="http://schemas.microsoft.com/office/powerpoint/2010/main" val="2227553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DE4D6-25EC-4804-8596-D49C47B74AAB}"/>
              </a:ext>
            </a:extLst>
          </p:cNvPr>
          <p:cNvSpPr>
            <a:spLocks noGrp="1"/>
          </p:cNvSpPr>
          <p:nvPr>
            <p:ph type="title"/>
          </p:nvPr>
        </p:nvSpPr>
        <p:spPr>
          <a:xfrm>
            <a:off x="457200" y="76200"/>
            <a:ext cx="8229600" cy="868362"/>
          </a:xfrm>
        </p:spPr>
        <p:txBody>
          <a:bodyPr/>
          <a:lstStyle/>
          <a:p>
            <a:r>
              <a:rPr lang="en-US" b="1" dirty="0"/>
              <a:t>Other DSS Categories </a:t>
            </a:r>
          </a:p>
        </p:txBody>
      </p:sp>
      <p:sp>
        <p:nvSpPr>
          <p:cNvPr id="3" name="Content Placeholder 2">
            <a:extLst>
              <a:ext uri="{FF2B5EF4-FFF2-40B4-BE49-F238E27FC236}">
                <a16:creationId xmlns:a16="http://schemas.microsoft.com/office/drawing/2014/main" id="{16CB0F8D-3897-4C43-AE1C-C671C6DA5257}"/>
              </a:ext>
            </a:extLst>
          </p:cNvPr>
          <p:cNvSpPr>
            <a:spLocks noGrp="1"/>
          </p:cNvSpPr>
          <p:nvPr>
            <p:ph idx="1"/>
          </p:nvPr>
        </p:nvSpPr>
        <p:spPr>
          <a:xfrm>
            <a:off x="152400" y="1143000"/>
            <a:ext cx="8915400" cy="5486400"/>
          </a:xfrm>
        </p:spPr>
        <p:txBody>
          <a:bodyPr>
            <a:normAutofit lnSpcReduction="10000"/>
          </a:bodyPr>
          <a:lstStyle/>
          <a:p>
            <a:pPr marL="0" indent="0" algn="just">
              <a:buNone/>
            </a:pPr>
            <a:r>
              <a:rPr lang="en-US" b="1" dirty="0">
                <a:solidFill>
                  <a:srgbClr val="FF0000"/>
                </a:solidFill>
              </a:rPr>
              <a:t>Individual support system versus group support system (GSS) </a:t>
            </a:r>
          </a:p>
          <a:p>
            <a:pPr marL="0" indent="0" algn="just">
              <a:buNone/>
            </a:pPr>
            <a:endParaRPr lang="en-US" dirty="0"/>
          </a:p>
          <a:p>
            <a:pPr algn="just"/>
            <a:r>
              <a:rPr lang="en-US" dirty="0"/>
              <a:t>A workgroup often works on separate problems within its area of responsibility. </a:t>
            </a:r>
          </a:p>
          <a:p>
            <a:pPr algn="just"/>
            <a:r>
              <a:rPr lang="en-US" dirty="0"/>
              <a:t>In group work, multiple people cooperate to solve the same problem. </a:t>
            </a:r>
          </a:p>
          <a:p>
            <a:pPr algn="just"/>
            <a:r>
              <a:rPr lang="en-US" dirty="0"/>
              <a:t>Insurance claims processing could be group work if handling a claim required the cooperation of policy analysts, medical experts, vehicle dynamics experts, legal experts, and others.</a:t>
            </a:r>
          </a:p>
        </p:txBody>
      </p:sp>
    </p:spTree>
    <p:extLst>
      <p:ext uri="{BB962C8B-B14F-4D97-AF65-F5344CB8AC3E}">
        <p14:creationId xmlns:p14="http://schemas.microsoft.com/office/powerpoint/2010/main" val="3221710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normAutofit/>
          </a:bodyPr>
          <a:lstStyle/>
          <a:p>
            <a:r>
              <a:rPr lang="en-US" b="1" dirty="0" err="1"/>
              <a:t>Alter's</a:t>
            </a:r>
            <a:r>
              <a:rPr lang="en-US" b="1" dirty="0"/>
              <a:t> Output Classification </a:t>
            </a:r>
            <a:endParaRPr lang="en-US" dirty="0"/>
          </a:p>
        </p:txBody>
      </p:sp>
      <p:sp>
        <p:nvSpPr>
          <p:cNvPr id="25603" name="Content Placeholder 2"/>
          <p:cNvSpPr>
            <a:spLocks noGrp="1"/>
          </p:cNvSpPr>
          <p:nvPr>
            <p:ph idx="1"/>
          </p:nvPr>
        </p:nvSpPr>
        <p:spPr>
          <a:xfrm>
            <a:off x="152400" y="1219200"/>
            <a:ext cx="8839200" cy="5410200"/>
          </a:xfrm>
        </p:spPr>
        <p:txBody>
          <a:bodyPr>
            <a:normAutofit fontScale="85000" lnSpcReduction="20000"/>
          </a:bodyPr>
          <a:lstStyle/>
          <a:p>
            <a:pPr marL="0" indent="0" algn="just">
              <a:buNone/>
            </a:pPr>
            <a:r>
              <a:rPr lang="en-US" dirty="0">
                <a:solidFill>
                  <a:srgbClr val="FF0000"/>
                </a:solidFill>
              </a:rPr>
              <a:t> </a:t>
            </a:r>
            <a:r>
              <a:rPr lang="en-US" b="1" dirty="0">
                <a:solidFill>
                  <a:srgbClr val="FF0000"/>
                </a:solidFill>
              </a:rPr>
              <a:t>Data Orientation </a:t>
            </a:r>
            <a:endParaRPr lang="en-US" dirty="0">
              <a:solidFill>
                <a:srgbClr val="FF0000"/>
              </a:solidFill>
            </a:endParaRPr>
          </a:p>
          <a:p>
            <a:pPr marL="0" indent="0" algn="just">
              <a:buNone/>
            </a:pPr>
            <a:r>
              <a:rPr lang="en-US" dirty="0"/>
              <a:t>1. </a:t>
            </a:r>
            <a:r>
              <a:rPr lang="en-US" b="1" dirty="0"/>
              <a:t>File drawer systems </a:t>
            </a:r>
            <a:r>
              <a:rPr lang="en-US" dirty="0"/>
              <a:t>that provide access to data items. </a:t>
            </a:r>
          </a:p>
          <a:p>
            <a:pPr marL="574675" indent="163513" algn="just"/>
            <a:r>
              <a:rPr lang="en-US" dirty="0"/>
              <a:t>Usage pattern: Simple inquiries </a:t>
            </a:r>
          </a:p>
          <a:p>
            <a:pPr marL="574675" indent="163513" algn="just"/>
            <a:r>
              <a:rPr lang="en-US" dirty="0"/>
              <a:t>Example: </a:t>
            </a:r>
          </a:p>
          <a:p>
            <a:pPr marL="574675" indent="163513" algn="just"/>
            <a:r>
              <a:rPr lang="en-US" dirty="0"/>
              <a:t>ATM Machine: Discover the account balance before deciding how much to withdraw </a:t>
            </a:r>
          </a:p>
          <a:p>
            <a:pPr marL="0" indent="0" algn="just">
              <a:buNone/>
            </a:pPr>
            <a:endParaRPr lang="en-US" dirty="0"/>
          </a:p>
          <a:p>
            <a:pPr marL="0" indent="0" algn="just">
              <a:buNone/>
            </a:pPr>
            <a:r>
              <a:rPr lang="en-US" dirty="0"/>
              <a:t>2. </a:t>
            </a:r>
            <a:r>
              <a:rPr lang="en-US" b="1" dirty="0"/>
              <a:t>Data analysis systems </a:t>
            </a:r>
            <a:r>
              <a:rPr lang="en-US" dirty="0"/>
              <a:t>that support the manipulation of data by computerized tools tailored to a specific task and setting or by more general tools and operators. </a:t>
            </a:r>
          </a:p>
          <a:p>
            <a:pPr marL="738188" indent="-163513" algn="just"/>
            <a:r>
              <a:rPr lang="en-US" dirty="0"/>
              <a:t>Usage pattern: Manipulation and display of data. </a:t>
            </a:r>
          </a:p>
          <a:p>
            <a:pPr marL="738188" indent="-163513" algn="just"/>
            <a:r>
              <a:rPr lang="en-US" dirty="0"/>
              <a:t>Example: </a:t>
            </a:r>
          </a:p>
          <a:p>
            <a:pPr marL="738188" indent="-163513" algn="just"/>
            <a:r>
              <a:rPr lang="en-US" dirty="0"/>
              <a:t>Airline Reservation system</a:t>
            </a:r>
          </a:p>
        </p:txBody>
      </p:sp>
    </p:spTree>
    <p:extLst>
      <p:ext uri="{BB962C8B-B14F-4D97-AF65-F5344CB8AC3E}">
        <p14:creationId xmlns:p14="http://schemas.microsoft.com/office/powerpoint/2010/main" val="3047761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normAutofit/>
          </a:bodyPr>
          <a:lstStyle/>
          <a:p>
            <a:r>
              <a:rPr lang="en-US" b="1" dirty="0" err="1"/>
              <a:t>Alter's</a:t>
            </a:r>
            <a:r>
              <a:rPr lang="en-US" b="1" dirty="0"/>
              <a:t> Output Classification </a:t>
            </a:r>
            <a:endParaRPr lang="en-US" dirty="0"/>
          </a:p>
        </p:txBody>
      </p:sp>
      <p:sp>
        <p:nvSpPr>
          <p:cNvPr id="25603" name="Content Placeholder 2"/>
          <p:cNvSpPr>
            <a:spLocks noGrp="1"/>
          </p:cNvSpPr>
          <p:nvPr>
            <p:ph idx="1"/>
          </p:nvPr>
        </p:nvSpPr>
        <p:spPr>
          <a:xfrm>
            <a:off x="152400" y="1219200"/>
            <a:ext cx="8839200" cy="5410200"/>
          </a:xfrm>
        </p:spPr>
        <p:txBody>
          <a:bodyPr>
            <a:normAutofit/>
          </a:bodyPr>
          <a:lstStyle/>
          <a:p>
            <a:pPr marL="0" indent="0">
              <a:buNone/>
            </a:pPr>
            <a:r>
              <a:rPr lang="en-US" b="1" dirty="0">
                <a:solidFill>
                  <a:srgbClr val="FF0000"/>
                </a:solidFill>
              </a:rPr>
              <a:t>Data and Models Orientation </a:t>
            </a:r>
            <a:endParaRPr lang="en-US" dirty="0">
              <a:solidFill>
                <a:srgbClr val="FF0000"/>
              </a:solidFill>
            </a:endParaRPr>
          </a:p>
          <a:p>
            <a:pPr marL="0" indent="0">
              <a:buNone/>
            </a:pPr>
            <a:r>
              <a:rPr lang="en-US" dirty="0"/>
              <a:t>3. </a:t>
            </a:r>
            <a:r>
              <a:rPr lang="en-US" b="1" dirty="0"/>
              <a:t>Analysis information systems </a:t>
            </a:r>
            <a:r>
              <a:rPr lang="en-US" dirty="0"/>
              <a:t>that provide access to a series of decision-oriented database and small models. </a:t>
            </a:r>
          </a:p>
          <a:p>
            <a:pPr marL="738188" indent="-222250"/>
            <a:r>
              <a:rPr lang="en-US" dirty="0"/>
              <a:t>Usage pattern: Programming special reports and developing small models. </a:t>
            </a:r>
          </a:p>
          <a:p>
            <a:pPr marL="738188" indent="-222250"/>
            <a:r>
              <a:rPr lang="en-US" dirty="0"/>
              <a:t>Example: </a:t>
            </a:r>
          </a:p>
          <a:p>
            <a:pPr marL="738188" indent="-222250"/>
            <a:r>
              <a:rPr lang="en-US" dirty="0"/>
              <a:t>Compare growth in revenues to industry average (Requires access to many sources) </a:t>
            </a:r>
          </a:p>
        </p:txBody>
      </p:sp>
    </p:spTree>
    <p:extLst>
      <p:ext uri="{BB962C8B-B14F-4D97-AF65-F5344CB8AC3E}">
        <p14:creationId xmlns:p14="http://schemas.microsoft.com/office/powerpoint/2010/main" val="2569244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normAutofit/>
          </a:bodyPr>
          <a:lstStyle/>
          <a:p>
            <a:r>
              <a:rPr lang="en-US" b="1" dirty="0" err="1"/>
              <a:t>Alter's</a:t>
            </a:r>
            <a:r>
              <a:rPr lang="en-US" b="1" dirty="0"/>
              <a:t> Output Classification </a:t>
            </a:r>
            <a:endParaRPr lang="en-US" dirty="0"/>
          </a:p>
        </p:txBody>
      </p:sp>
      <p:sp>
        <p:nvSpPr>
          <p:cNvPr id="25603" name="Content Placeholder 2"/>
          <p:cNvSpPr>
            <a:spLocks noGrp="1"/>
          </p:cNvSpPr>
          <p:nvPr>
            <p:ph idx="1"/>
          </p:nvPr>
        </p:nvSpPr>
        <p:spPr>
          <a:xfrm>
            <a:off x="152400" y="1219200"/>
            <a:ext cx="8839200" cy="5410200"/>
          </a:xfrm>
        </p:spPr>
        <p:txBody>
          <a:bodyPr>
            <a:normAutofit fontScale="70000" lnSpcReduction="20000"/>
          </a:bodyPr>
          <a:lstStyle/>
          <a:p>
            <a:pPr marL="0" indent="0">
              <a:buNone/>
            </a:pPr>
            <a:r>
              <a:rPr lang="en-US" b="1" dirty="0">
                <a:solidFill>
                  <a:srgbClr val="FF0000"/>
                </a:solidFill>
              </a:rPr>
              <a:t>Models Orientation </a:t>
            </a:r>
            <a:endParaRPr lang="en-US" dirty="0">
              <a:solidFill>
                <a:srgbClr val="FF0000"/>
              </a:solidFill>
            </a:endParaRPr>
          </a:p>
          <a:p>
            <a:pPr marL="0" indent="0">
              <a:buNone/>
            </a:pPr>
            <a:r>
              <a:rPr lang="en-US" dirty="0"/>
              <a:t>4. </a:t>
            </a:r>
            <a:r>
              <a:rPr lang="en-US" b="1" dirty="0"/>
              <a:t>Accounting and financial </a:t>
            </a:r>
            <a:r>
              <a:rPr lang="en-US" dirty="0"/>
              <a:t>models that calculate the consequences of possible actions. </a:t>
            </a:r>
          </a:p>
          <a:p>
            <a:pPr marL="574675" indent="58738"/>
            <a:r>
              <a:rPr lang="en-US" dirty="0"/>
              <a:t>Usage pattern: Input estimates of activity; estimated monetary result as output. Cannot handle uncertainty </a:t>
            </a:r>
          </a:p>
          <a:p>
            <a:pPr marL="574675" indent="58738"/>
            <a:r>
              <a:rPr lang="en-US" dirty="0"/>
              <a:t>Example: </a:t>
            </a:r>
          </a:p>
          <a:p>
            <a:pPr marL="574675" indent="58738"/>
            <a:r>
              <a:rPr lang="en-US" dirty="0"/>
              <a:t>Calculate production cost </a:t>
            </a:r>
          </a:p>
          <a:p>
            <a:pPr marL="574675" indent="58738"/>
            <a:r>
              <a:rPr lang="en-US" dirty="0"/>
              <a:t>Make pricing decisions </a:t>
            </a:r>
          </a:p>
          <a:p>
            <a:pPr marL="0" indent="0">
              <a:buNone/>
            </a:pPr>
            <a:endParaRPr lang="en-US" dirty="0"/>
          </a:p>
          <a:p>
            <a:pPr marL="0" indent="0">
              <a:buNone/>
            </a:pPr>
            <a:r>
              <a:rPr lang="en-US" dirty="0"/>
              <a:t>5. </a:t>
            </a:r>
            <a:r>
              <a:rPr lang="en-US" b="1" dirty="0"/>
              <a:t>Representational models </a:t>
            </a:r>
            <a:r>
              <a:rPr lang="en-US" dirty="0"/>
              <a:t>that estimate the consequences of actions on the basis of simulation models. </a:t>
            </a:r>
          </a:p>
          <a:p>
            <a:pPr marL="693738" indent="-119063"/>
            <a:r>
              <a:rPr lang="en-US" dirty="0"/>
              <a:t>Usage pattern: Input possible decision; receive estimated results as output. Can incorporate uncertainty. </a:t>
            </a:r>
          </a:p>
          <a:p>
            <a:pPr marL="693738" indent="-119063"/>
            <a:r>
              <a:rPr lang="en-US" dirty="0"/>
              <a:t>Example: </a:t>
            </a:r>
          </a:p>
          <a:p>
            <a:pPr marL="693738" indent="-119063"/>
            <a:r>
              <a:rPr lang="en-US" dirty="0"/>
              <a:t>1) Uses models to solve decision problem using forecasts </a:t>
            </a:r>
          </a:p>
          <a:p>
            <a:pPr marL="693738" indent="-119063"/>
            <a:r>
              <a:rPr lang="en-US" dirty="0"/>
              <a:t>2) Use the demand data to forecast next years demand </a:t>
            </a:r>
          </a:p>
        </p:txBody>
      </p:sp>
    </p:spTree>
    <p:extLst>
      <p:ext uri="{BB962C8B-B14F-4D97-AF65-F5344CB8AC3E}">
        <p14:creationId xmlns:p14="http://schemas.microsoft.com/office/powerpoint/2010/main" val="1662174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normAutofit/>
          </a:bodyPr>
          <a:lstStyle/>
          <a:p>
            <a:r>
              <a:rPr lang="en-US" b="1" dirty="0" err="1"/>
              <a:t>Alter's</a:t>
            </a:r>
            <a:r>
              <a:rPr lang="en-US" b="1" dirty="0"/>
              <a:t> Output Classification </a:t>
            </a:r>
            <a:endParaRPr lang="en-US" dirty="0"/>
          </a:p>
        </p:txBody>
      </p:sp>
      <p:sp>
        <p:nvSpPr>
          <p:cNvPr id="25603" name="Content Placeholder 2"/>
          <p:cNvSpPr>
            <a:spLocks noGrp="1"/>
          </p:cNvSpPr>
          <p:nvPr>
            <p:ph idx="1"/>
          </p:nvPr>
        </p:nvSpPr>
        <p:spPr>
          <a:xfrm>
            <a:off x="152400" y="1143000"/>
            <a:ext cx="8839200" cy="5562600"/>
          </a:xfrm>
        </p:spPr>
        <p:txBody>
          <a:bodyPr>
            <a:normAutofit fontScale="70000" lnSpcReduction="20000"/>
          </a:bodyPr>
          <a:lstStyle/>
          <a:p>
            <a:pPr marL="0" indent="0">
              <a:buNone/>
            </a:pPr>
            <a:r>
              <a:rPr lang="en-US" b="1" dirty="0">
                <a:solidFill>
                  <a:srgbClr val="FF0000"/>
                </a:solidFill>
              </a:rPr>
              <a:t>Models Orientation </a:t>
            </a:r>
            <a:endParaRPr lang="en-US" dirty="0">
              <a:solidFill>
                <a:srgbClr val="FF0000"/>
              </a:solidFill>
            </a:endParaRPr>
          </a:p>
          <a:p>
            <a:pPr marL="0" indent="0">
              <a:buNone/>
            </a:pPr>
            <a:r>
              <a:rPr lang="en-US" dirty="0"/>
              <a:t>6. </a:t>
            </a:r>
            <a:r>
              <a:rPr lang="en-US" b="1" dirty="0"/>
              <a:t>Optimization models </a:t>
            </a:r>
            <a:r>
              <a:rPr lang="en-US" dirty="0"/>
              <a:t>that provide guidelines for action by generating an optimal solution consistent with a series of constraints. </a:t>
            </a:r>
          </a:p>
          <a:p>
            <a:pPr marL="693738" indent="-119063"/>
            <a:r>
              <a:rPr lang="en-US" dirty="0"/>
              <a:t>Usage pattern: Input constraints and objectives; receive answer. Can incorporate uncertainty </a:t>
            </a:r>
          </a:p>
          <a:p>
            <a:pPr marL="693738" indent="-119063"/>
            <a:r>
              <a:rPr lang="en-US" dirty="0"/>
              <a:t>Example: </a:t>
            </a:r>
          </a:p>
          <a:p>
            <a:pPr marL="693738" indent="-119063"/>
            <a:r>
              <a:rPr lang="en-US" dirty="0"/>
              <a:t>Provide the best assignment schedule </a:t>
            </a:r>
          </a:p>
          <a:p>
            <a:endParaRPr lang="en-US" dirty="0"/>
          </a:p>
          <a:p>
            <a:pPr marL="0" indent="0">
              <a:buNone/>
            </a:pPr>
            <a:r>
              <a:rPr lang="en-US" dirty="0"/>
              <a:t>7. </a:t>
            </a:r>
            <a:r>
              <a:rPr lang="en-US" b="1" dirty="0"/>
              <a:t>Suggestion models </a:t>
            </a:r>
            <a:r>
              <a:rPr lang="en-US" dirty="0"/>
              <a:t>that perform the logical processing leading to a specific suggested decision for a fairly structured or well- understood task. </a:t>
            </a:r>
          </a:p>
          <a:p>
            <a:pPr marL="693738" indent="-119063"/>
            <a:r>
              <a:rPr lang="en-US" dirty="0"/>
              <a:t>Usage pattern: Input a structured description of the decision situation; receive a suggested decision as output. May incorporate an Expert System </a:t>
            </a:r>
          </a:p>
          <a:p>
            <a:pPr marL="693738" indent="-119063"/>
            <a:r>
              <a:rPr lang="en-US" dirty="0"/>
              <a:t>Example: </a:t>
            </a:r>
          </a:p>
          <a:p>
            <a:pPr marL="693738" indent="-119063"/>
            <a:r>
              <a:rPr lang="en-US" dirty="0"/>
              <a:t>use the system to recommend a decision </a:t>
            </a:r>
          </a:p>
        </p:txBody>
      </p:sp>
    </p:spTree>
    <p:extLst>
      <p:ext uri="{BB962C8B-B14F-4D97-AF65-F5344CB8AC3E}">
        <p14:creationId xmlns:p14="http://schemas.microsoft.com/office/powerpoint/2010/main" val="4002892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b="1" dirty="0" err="1"/>
              <a:t>Alter's</a:t>
            </a:r>
            <a:r>
              <a:rPr lang="en-US" b="1" dirty="0"/>
              <a:t> Output Classification </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24013"/>
            <a:ext cx="8839199" cy="5081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69939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16105</TotalTime>
  <Words>920</Words>
  <Application>Microsoft Office PowerPoint</Application>
  <PresentationFormat>On-screen Show (4:3)</PresentationFormat>
  <Paragraphs>96</Paragraphs>
  <Slides>16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Decision Support Systems</vt:lpstr>
      <vt:lpstr>PowerPoint Presentation</vt:lpstr>
      <vt:lpstr>The main contributions of the previous model are </vt:lpstr>
      <vt:lpstr>PowerPoint Presentation</vt:lpstr>
      <vt:lpstr>DSS Description</vt:lpstr>
      <vt:lpstr>A Web-Based DSS Architecture </vt:lpstr>
      <vt:lpstr>A Web-Based DSS Architecture </vt:lpstr>
      <vt:lpstr>DSS Characteristics and Capabilities </vt:lpstr>
      <vt:lpstr>DSS Classifications </vt:lpstr>
      <vt:lpstr>Other DSS Categories </vt:lpstr>
      <vt:lpstr>Other DSS Categories </vt:lpstr>
      <vt:lpstr>Alter's Output Classification </vt:lpstr>
      <vt:lpstr>Alter's Output Classification </vt:lpstr>
      <vt:lpstr>Alter's Output Classification </vt:lpstr>
      <vt:lpstr>Alter's Output Classification </vt:lpstr>
      <vt:lpstr>Alter's Output Classification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Support Systems</dc:title>
  <dc:creator>Shahd</dc:creator>
  <cp:lastModifiedBy>DELL</cp:lastModifiedBy>
  <cp:revision>126</cp:revision>
  <dcterms:created xsi:type="dcterms:W3CDTF">2020-02-07T12:29:02Z</dcterms:created>
  <dcterms:modified xsi:type="dcterms:W3CDTF">2021-05-13T12:02:35Z</dcterms:modified>
</cp:coreProperties>
</file>