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5" r:id="rId3"/>
    <p:sldId id="296" r:id="rId4"/>
    <p:sldId id="297" r:id="rId5"/>
    <p:sldId id="298" r:id="rId6"/>
    <p:sldId id="299" r:id="rId7"/>
    <p:sldId id="300" r:id="rId8"/>
    <p:sldId id="301" r:id="rId9"/>
    <p:sldId id="302" r:id="rId10"/>
    <p:sldId id="303" r:id="rId11"/>
    <p:sldId id="304" r:id="rId12"/>
    <p:sldId id="276" r:id="rId13"/>
    <p:sldId id="277" r:id="rId14"/>
    <p:sldId id="279" r:id="rId15"/>
    <p:sldId id="280" r:id="rId16"/>
    <p:sldId id="281" r:id="rId17"/>
    <p:sldId id="282" r:id="rId18"/>
    <p:sldId id="28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22"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1F0F9B-4E7F-4544-B22E-1DBBBA699338}" type="datetimeFigureOut">
              <a:rPr lang="en-US" smtClean="0"/>
              <a:t>5/16/2021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864056-A11E-4211-9130-9948B12483FD}" type="slidenum">
              <a:rPr lang="en-US" smtClean="0"/>
              <a:t>‹#›</a:t>
            </a:fld>
            <a:endParaRPr lang="en-US"/>
          </a:p>
        </p:txBody>
      </p:sp>
    </p:spTree>
    <p:extLst>
      <p:ext uri="{BB962C8B-B14F-4D97-AF65-F5344CB8AC3E}">
        <p14:creationId xmlns:p14="http://schemas.microsoft.com/office/powerpoint/2010/main" val="2595144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12</a:t>
            </a:fld>
            <a:endParaRPr lang="en-US" alt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13</a:t>
            </a:fld>
            <a:endParaRPr lang="en-US" altLang="en-US">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14</a:t>
            </a:fld>
            <a:endParaRPr lang="en-US" altLang="en-US">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15</a:t>
            </a:fld>
            <a:endParaRPr lang="en-US" altLang="en-US">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16</a:t>
            </a:fld>
            <a:endParaRPr lang="en-US" altLang="en-US">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17</a:t>
            </a:fld>
            <a:endParaRPr lang="en-US" altLang="en-US">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18</a:t>
            </a:fld>
            <a:endParaRPr lang="en-US" altLang="en-US">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77156F2-D81F-4E2F-B320-B9FE461495CE}" type="datetimeFigureOut">
              <a:rPr lang="en-US" smtClean="0"/>
              <a:t>5/16/2021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00527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115980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156F2-D81F-4E2F-B320-B9FE461495CE}" type="datetimeFigureOut">
              <a:rPr lang="en-US" smtClean="0"/>
              <a:t>5/16/2021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337999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7156F2-D81F-4E2F-B320-B9FE461495CE}" type="datetimeFigureOut">
              <a:rPr lang="en-US" smtClean="0"/>
              <a:t>5/16/2021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422542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7156F2-D81F-4E2F-B320-B9FE461495CE}" type="datetimeFigureOut">
              <a:rPr lang="en-US" smtClean="0"/>
              <a:t>5/16/2021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14172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7156F2-D81F-4E2F-B320-B9FE461495CE}" type="datetimeFigureOut">
              <a:rPr lang="en-US" smtClean="0"/>
              <a:t>5/16/2021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22510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7156F2-D81F-4E2F-B320-B9FE461495CE}" type="datetimeFigureOut">
              <a:rPr lang="en-US" smtClean="0"/>
              <a:t>5/16/2021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63172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156F2-D81F-4E2F-B320-B9FE461495CE}" type="datetimeFigureOut">
              <a:rPr lang="en-US" smtClean="0"/>
              <a:t>5/16/2021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373357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156F2-D81F-4E2F-B320-B9FE461495CE}" type="datetimeFigureOut">
              <a:rPr lang="en-US" smtClean="0"/>
              <a:t>5/16/2021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443480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798942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04723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156F2-D81F-4E2F-B320-B9FE461495CE}" type="datetimeFigureOut">
              <a:rPr lang="en-US" smtClean="0"/>
              <a:t>5/16/2021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19A60-3B17-4BC5-B33A-FE0BAD07B78E}" type="slidenum">
              <a:rPr lang="en-US" smtClean="0"/>
              <a:t>‹#›</a:t>
            </a:fld>
            <a:endParaRPr lang="en-US"/>
          </a:p>
        </p:txBody>
      </p:sp>
    </p:spTree>
    <p:extLst>
      <p:ext uri="{BB962C8B-B14F-4D97-AF65-F5344CB8AC3E}">
        <p14:creationId xmlns:p14="http://schemas.microsoft.com/office/powerpoint/2010/main" val="111744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a:t>Decision Support Systems</a:t>
            </a:r>
          </a:p>
        </p:txBody>
      </p:sp>
      <p:sp>
        <p:nvSpPr>
          <p:cNvPr id="3" name="Subtitle 2"/>
          <p:cNvSpPr>
            <a:spLocks noGrp="1"/>
          </p:cNvSpPr>
          <p:nvPr>
            <p:ph type="subTitle" idx="1"/>
          </p:nvPr>
        </p:nvSpPr>
        <p:spPr>
          <a:xfrm>
            <a:off x="1295400" y="1676400"/>
            <a:ext cx="6629400" cy="1447800"/>
          </a:xfrm>
        </p:spPr>
        <p:txBody>
          <a:bodyPr>
            <a:normAutofit fontScale="70000" lnSpcReduction="20000"/>
          </a:bodyPr>
          <a:lstStyle/>
          <a:p>
            <a:r>
              <a:rPr lang="en-US" dirty="0"/>
              <a:t> </a:t>
            </a:r>
            <a:r>
              <a:rPr lang="en-US" b="1" dirty="0">
                <a:solidFill>
                  <a:srgbClr val="FF0000"/>
                </a:solidFill>
              </a:rPr>
              <a:t>Decision Support Systems Concepts, Methodologies, and Technologies:</a:t>
            </a:r>
          </a:p>
          <a:p>
            <a:r>
              <a:rPr lang="en-US" b="1" dirty="0">
                <a:solidFill>
                  <a:srgbClr val="FF0000"/>
                </a:solidFill>
              </a:rPr>
              <a:t> An Overview </a:t>
            </a:r>
          </a:p>
          <a:p>
            <a:r>
              <a:rPr lang="en-US" b="1" dirty="0">
                <a:solidFill>
                  <a:schemeClr val="tx2">
                    <a:lumMod val="75000"/>
                  </a:schemeClr>
                </a:solidFill>
              </a:rPr>
              <a:t>Lecture 7</a:t>
            </a:r>
          </a:p>
        </p:txBody>
      </p:sp>
      <p:pic>
        <p:nvPicPr>
          <p:cNvPr id="1026" name="Picture 2" descr="Image result for decision support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581400"/>
            <a:ext cx="8162925"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47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b="1" dirty="0"/>
              <a:t>Components of DSS</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66825"/>
            <a:ext cx="8839200" cy="551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631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b="1" dirty="0"/>
              <a:t>Components of DSS</a:t>
            </a:r>
            <a:endParaRPr lang="en-US" dirty="0"/>
          </a:p>
        </p:txBody>
      </p:sp>
      <p:sp>
        <p:nvSpPr>
          <p:cNvPr id="3" name="Rectangle 2"/>
          <p:cNvSpPr/>
          <p:nvPr/>
        </p:nvSpPr>
        <p:spPr>
          <a:xfrm>
            <a:off x="76200" y="1003042"/>
            <a:ext cx="8915400" cy="5632311"/>
          </a:xfrm>
          <a:prstGeom prst="rect">
            <a:avLst/>
          </a:prstGeom>
        </p:spPr>
        <p:txBody>
          <a:bodyPr wrap="square">
            <a:spAutoFit/>
          </a:bodyPr>
          <a:lstStyle/>
          <a:p>
            <a:r>
              <a:rPr lang="en-US" sz="3600" dirty="0">
                <a:solidFill>
                  <a:srgbClr val="FF0000"/>
                </a:solidFill>
              </a:rPr>
              <a:t>Data Management Subsystem </a:t>
            </a:r>
          </a:p>
          <a:p>
            <a:pPr marL="457200" indent="398463">
              <a:buFont typeface="Arial" panose="020B0604020202020204" pitchFamily="34" charset="0"/>
              <a:buChar char="•"/>
            </a:pPr>
            <a:r>
              <a:rPr lang="en-US" sz="3600" dirty="0"/>
              <a:t>Includes the database that contains the data </a:t>
            </a:r>
          </a:p>
          <a:p>
            <a:pPr marL="457200" indent="398463">
              <a:buFont typeface="Arial" panose="020B0604020202020204" pitchFamily="34" charset="0"/>
              <a:buChar char="•"/>
            </a:pPr>
            <a:r>
              <a:rPr lang="en-US" sz="3600" dirty="0"/>
              <a:t>Database management system (DBMS) </a:t>
            </a:r>
          </a:p>
          <a:p>
            <a:pPr marL="457200" indent="398463">
              <a:buFont typeface="Arial" panose="020B0604020202020204" pitchFamily="34" charset="0"/>
              <a:buChar char="•"/>
            </a:pPr>
            <a:r>
              <a:rPr lang="en-US" sz="3600" dirty="0"/>
              <a:t>Can be connected to a data warehouse </a:t>
            </a:r>
          </a:p>
          <a:p>
            <a:r>
              <a:rPr lang="en-US" sz="3600" dirty="0">
                <a:solidFill>
                  <a:srgbClr val="FF0000"/>
                </a:solidFill>
              </a:rPr>
              <a:t>Model Management Subsystem </a:t>
            </a:r>
          </a:p>
          <a:p>
            <a:pPr marL="457200" indent="58738">
              <a:buFont typeface="Arial" panose="020B0604020202020204" pitchFamily="34" charset="0"/>
              <a:buChar char="•"/>
            </a:pPr>
            <a:r>
              <a:rPr lang="en-US" sz="3600" dirty="0"/>
              <a:t>Model base management system (MBMS) </a:t>
            </a:r>
          </a:p>
          <a:p>
            <a:r>
              <a:rPr lang="en-US" sz="3600" dirty="0">
                <a:solidFill>
                  <a:srgbClr val="FF0000"/>
                </a:solidFill>
              </a:rPr>
              <a:t>User Interface Subsystem </a:t>
            </a:r>
          </a:p>
          <a:p>
            <a:r>
              <a:rPr lang="en-US" sz="3600" dirty="0">
                <a:solidFill>
                  <a:srgbClr val="FF0000"/>
                </a:solidFill>
              </a:rPr>
              <a:t>Knowledgebase Management Subsystem </a:t>
            </a:r>
          </a:p>
          <a:p>
            <a:pPr marL="457200" indent="58738">
              <a:buFont typeface="Arial" panose="020B0604020202020204" pitchFamily="34" charset="0"/>
              <a:buChar char="•"/>
            </a:pPr>
            <a:r>
              <a:rPr lang="en-US" sz="3600" dirty="0"/>
              <a:t>Organizational knowledge base </a:t>
            </a:r>
          </a:p>
        </p:txBody>
      </p:sp>
    </p:spTree>
    <p:extLst>
      <p:ext uri="{BB962C8B-B14F-4D97-AF65-F5344CB8AC3E}">
        <p14:creationId xmlns:p14="http://schemas.microsoft.com/office/powerpoint/2010/main" val="2644755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normAutofit fontScale="90000"/>
          </a:bodyPr>
          <a:lstStyle/>
          <a:p>
            <a:r>
              <a:rPr lang="en-US" b="1" dirty="0"/>
              <a:t>DSS Components and Web Impacts </a:t>
            </a:r>
            <a:endParaRPr lang="en-US" dirty="0"/>
          </a:p>
        </p:txBody>
      </p:sp>
      <p:sp>
        <p:nvSpPr>
          <p:cNvPr id="3" name="Rectangle 2"/>
          <p:cNvSpPr/>
          <p:nvPr/>
        </p:nvSpPr>
        <p:spPr>
          <a:xfrm>
            <a:off x="76200" y="1003042"/>
            <a:ext cx="8915400" cy="5632311"/>
          </a:xfrm>
          <a:prstGeom prst="rect">
            <a:avLst/>
          </a:prstGeom>
        </p:spPr>
        <p:txBody>
          <a:bodyPr wrap="square">
            <a:spAutoFit/>
          </a:bodyPr>
          <a:lstStyle/>
          <a:p>
            <a:r>
              <a:rPr lang="en-US" sz="3600" dirty="0">
                <a:solidFill>
                  <a:srgbClr val="FF0000"/>
                </a:solidFill>
              </a:rPr>
              <a:t>Impacts of Web to DSS </a:t>
            </a:r>
          </a:p>
          <a:p>
            <a:pPr marL="571500" indent="-231775">
              <a:buFont typeface="Arial" panose="020B0604020202020204" pitchFamily="34" charset="0"/>
              <a:buChar char="•"/>
            </a:pPr>
            <a:r>
              <a:rPr lang="en-US" sz="3600" dirty="0"/>
              <a:t>Data management via Web servers </a:t>
            </a:r>
          </a:p>
          <a:p>
            <a:pPr marL="571500" indent="-231775">
              <a:buFont typeface="Arial" panose="020B0604020202020204" pitchFamily="34" charset="0"/>
              <a:buChar char="•"/>
            </a:pPr>
            <a:r>
              <a:rPr lang="en-US" sz="3600" dirty="0"/>
              <a:t>Easy access to variety of models, tools </a:t>
            </a:r>
          </a:p>
          <a:p>
            <a:pPr marL="571500" indent="-231775">
              <a:buFont typeface="Arial" panose="020B0604020202020204" pitchFamily="34" charset="0"/>
              <a:buChar char="•"/>
            </a:pPr>
            <a:r>
              <a:rPr lang="en-US" sz="3600" dirty="0"/>
              <a:t>Consistent user interface (browsers) </a:t>
            </a:r>
          </a:p>
          <a:p>
            <a:pPr marL="571500" indent="-231775">
              <a:buFont typeface="Arial" panose="020B0604020202020204" pitchFamily="34" charset="0"/>
              <a:buChar char="•"/>
            </a:pPr>
            <a:r>
              <a:rPr lang="en-US" sz="3600" dirty="0"/>
              <a:t>Deployment to PDAs, cell phones, etc. …</a:t>
            </a:r>
          </a:p>
          <a:p>
            <a:r>
              <a:rPr lang="en-US" sz="3600" dirty="0"/>
              <a:t> </a:t>
            </a:r>
          </a:p>
          <a:p>
            <a:r>
              <a:rPr lang="en-US" sz="3600" dirty="0">
                <a:solidFill>
                  <a:srgbClr val="FF0000"/>
                </a:solidFill>
              </a:rPr>
              <a:t>DSS impact on Web </a:t>
            </a:r>
          </a:p>
          <a:p>
            <a:pPr marL="571500" indent="-231775">
              <a:buFont typeface="Arial" panose="020B0604020202020204" pitchFamily="34" charset="0"/>
              <a:buChar char="•"/>
            </a:pPr>
            <a:r>
              <a:rPr lang="en-US" sz="3600" dirty="0"/>
              <a:t>Intelligent e-Business/e-Commerce </a:t>
            </a:r>
          </a:p>
          <a:p>
            <a:pPr marL="571500" indent="-231775">
              <a:buFont typeface="Arial" panose="020B0604020202020204" pitchFamily="34" charset="0"/>
              <a:buChar char="•"/>
            </a:pPr>
            <a:r>
              <a:rPr lang="en-US" sz="3600" dirty="0"/>
              <a:t>Better management of Web resources and security, </a:t>
            </a:r>
          </a:p>
        </p:txBody>
      </p:sp>
    </p:spTree>
    <p:extLst>
      <p:ext uri="{BB962C8B-B14F-4D97-AF65-F5344CB8AC3E}">
        <p14:creationId xmlns:p14="http://schemas.microsoft.com/office/powerpoint/2010/main" val="326186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b="1" dirty="0"/>
              <a:t>Data Management Subsystem</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52500"/>
            <a:ext cx="8534400" cy="575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195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fontScale="85000" lnSpcReduction="20000"/>
          </a:bodyPr>
          <a:lstStyle/>
          <a:p>
            <a:pPr marL="0" indent="0">
              <a:buNone/>
            </a:pPr>
            <a:r>
              <a:rPr lang="en-US" b="1" dirty="0">
                <a:solidFill>
                  <a:srgbClr val="FF0000"/>
                </a:solidFill>
              </a:rPr>
              <a:t>1- DSS Database </a:t>
            </a:r>
            <a:endParaRPr lang="en-US" dirty="0">
              <a:solidFill>
                <a:srgbClr val="FF0000"/>
              </a:solidFill>
            </a:endParaRPr>
          </a:p>
          <a:p>
            <a:r>
              <a:rPr lang="en-US" dirty="0"/>
              <a:t>Several databases can be used in one DSS application, depending on the data sources. </a:t>
            </a:r>
          </a:p>
          <a:p>
            <a:r>
              <a:rPr lang="en-US" dirty="0"/>
              <a:t>The data in the DSS database are extracted from internal and external data sources, as well as from personal data belonging to one or more users. </a:t>
            </a:r>
          </a:p>
          <a:p>
            <a:r>
              <a:rPr lang="en-US" dirty="0"/>
              <a:t>Internal data come mainly from the organization’s Transaction Processing System. </a:t>
            </a:r>
          </a:p>
          <a:p>
            <a:r>
              <a:rPr lang="en-US" dirty="0"/>
              <a:t>Internal data can be made available through web browsers over an intranet, an internal web based system. </a:t>
            </a:r>
          </a:p>
          <a:p>
            <a:r>
              <a:rPr lang="en-US" dirty="0"/>
              <a:t>External data include industry data, market research data, census data, regional employment data, government regulation, etc., </a:t>
            </a:r>
          </a:p>
          <a:p>
            <a:r>
              <a:rPr lang="en-US" dirty="0"/>
              <a:t>Private data can include guidelines used by specific decision makers and assessments of specific data or situation. </a:t>
            </a:r>
          </a:p>
          <a:p>
            <a:endParaRPr lang="en-US" dirty="0"/>
          </a:p>
        </p:txBody>
      </p:sp>
    </p:spTree>
    <p:extLst>
      <p:ext uri="{BB962C8B-B14F-4D97-AF65-F5344CB8AC3E}">
        <p14:creationId xmlns:p14="http://schemas.microsoft.com/office/powerpoint/2010/main" val="3444891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lnSpcReduction="10000"/>
          </a:bodyPr>
          <a:lstStyle/>
          <a:p>
            <a:pPr marL="0" indent="0">
              <a:buNone/>
            </a:pPr>
            <a:r>
              <a:rPr lang="en-US" b="1" dirty="0">
                <a:solidFill>
                  <a:srgbClr val="FF0000"/>
                </a:solidFill>
              </a:rPr>
              <a:t>1- DSS Database </a:t>
            </a:r>
            <a:endParaRPr lang="en-US" dirty="0">
              <a:solidFill>
                <a:srgbClr val="FF0000"/>
              </a:solidFill>
            </a:endParaRPr>
          </a:p>
          <a:p>
            <a:pPr marL="0" indent="0">
              <a:buNone/>
            </a:pPr>
            <a:r>
              <a:rPr lang="en-US" b="1" dirty="0"/>
              <a:t>Similarities between Internal, external and private data </a:t>
            </a:r>
            <a:endParaRPr lang="en-US" dirty="0"/>
          </a:p>
          <a:p>
            <a:pPr marL="515938" indent="-234950"/>
            <a:r>
              <a:rPr lang="en-US" dirty="0"/>
              <a:t>All these types can be in any form—structured record/field files, text files, or multimedia of various types. </a:t>
            </a:r>
          </a:p>
          <a:p>
            <a:pPr marL="515938" indent="-234950"/>
            <a:r>
              <a:rPr lang="en-US" dirty="0"/>
              <a:t>All can be objective or subjective. </a:t>
            </a:r>
          </a:p>
          <a:p>
            <a:pPr marL="515938" indent="-234950"/>
            <a:r>
              <a:rPr lang="en-US" dirty="0"/>
              <a:t>All can be, managed by a DBMS. </a:t>
            </a:r>
          </a:p>
          <a:p>
            <a:pPr marL="515938" indent="-234950"/>
            <a:r>
              <a:rPr lang="en-US" dirty="0"/>
              <a:t>All can be used to support a wide variety of decisions. </a:t>
            </a:r>
          </a:p>
          <a:p>
            <a:pPr marL="515938" indent="-234950"/>
            <a:r>
              <a:rPr lang="en-US" dirty="0"/>
              <a:t>All can be accessed via a Web interface. </a:t>
            </a:r>
          </a:p>
          <a:p>
            <a:endParaRPr lang="en-US" dirty="0"/>
          </a:p>
        </p:txBody>
      </p:sp>
    </p:spTree>
    <p:extLst>
      <p:ext uri="{BB962C8B-B14F-4D97-AF65-F5344CB8AC3E}">
        <p14:creationId xmlns:p14="http://schemas.microsoft.com/office/powerpoint/2010/main" val="35075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fontScale="85000" lnSpcReduction="10000"/>
          </a:bodyPr>
          <a:lstStyle/>
          <a:p>
            <a:pPr marL="0" indent="0" algn="just">
              <a:buNone/>
            </a:pPr>
            <a:r>
              <a:rPr lang="en-US" b="1" dirty="0">
                <a:solidFill>
                  <a:srgbClr val="FF0000"/>
                </a:solidFill>
              </a:rPr>
              <a:t>1- DSS Database </a:t>
            </a:r>
            <a:endParaRPr lang="en-US" dirty="0">
              <a:solidFill>
                <a:srgbClr val="FF0000"/>
              </a:solidFill>
            </a:endParaRPr>
          </a:p>
          <a:p>
            <a:pPr marL="0" indent="0" algn="just">
              <a:buNone/>
            </a:pPr>
            <a:r>
              <a:rPr lang="en-US" b="1" dirty="0"/>
              <a:t>Extraction </a:t>
            </a:r>
            <a:endParaRPr lang="en-US" dirty="0"/>
          </a:p>
          <a:p>
            <a:pPr marL="633413" indent="-117475" algn="just"/>
            <a:r>
              <a:rPr lang="en-US" dirty="0"/>
              <a:t>To create a DSS database, it is often necessary to capture data from several sources. This operation is called extraction. </a:t>
            </a:r>
          </a:p>
          <a:p>
            <a:pPr marL="633413" indent="-117475" algn="just"/>
            <a:r>
              <a:rPr lang="en-US" dirty="0"/>
              <a:t>It basically consists of importing of files, summarization, standardization filtration, and condensation of data. Extraction also occurs when the user produces reports from data in the database. </a:t>
            </a:r>
          </a:p>
          <a:p>
            <a:pPr marL="633413" indent="-117475" algn="just"/>
            <a:r>
              <a:rPr lang="en-US" dirty="0"/>
              <a:t>To extract data, an exact query must be made to several related data tables that may span several independent databases. The pieces to be extracted must be ―reconnected‖ so that useful DSS database results. </a:t>
            </a:r>
          </a:p>
          <a:p>
            <a:pPr algn="just"/>
            <a:endParaRPr lang="en-US" dirty="0"/>
          </a:p>
        </p:txBody>
      </p:sp>
    </p:spTree>
    <p:extLst>
      <p:ext uri="{BB962C8B-B14F-4D97-AF65-F5344CB8AC3E}">
        <p14:creationId xmlns:p14="http://schemas.microsoft.com/office/powerpoint/2010/main" val="2839540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fontScale="85000" lnSpcReduction="10000"/>
          </a:bodyPr>
          <a:lstStyle/>
          <a:p>
            <a:pPr marL="0" indent="0" algn="just">
              <a:buNone/>
            </a:pPr>
            <a:r>
              <a:rPr lang="en-US" b="1" dirty="0">
                <a:solidFill>
                  <a:srgbClr val="FF0000"/>
                </a:solidFill>
              </a:rPr>
              <a:t>2- Database Management Systems </a:t>
            </a:r>
            <a:endParaRPr lang="en-US" dirty="0">
              <a:solidFill>
                <a:srgbClr val="FF0000"/>
              </a:solidFill>
            </a:endParaRPr>
          </a:p>
          <a:p>
            <a:pPr marL="0" indent="0">
              <a:buNone/>
            </a:pPr>
            <a:r>
              <a:rPr lang="en-US" b="1" dirty="0"/>
              <a:t>The Capabilities of DBMS in a DSS </a:t>
            </a:r>
          </a:p>
          <a:p>
            <a:pPr marL="693738" indent="-119063"/>
            <a:r>
              <a:rPr lang="en-US" dirty="0"/>
              <a:t>Captures/extracts data for inclusion in a DSS database </a:t>
            </a:r>
          </a:p>
          <a:p>
            <a:pPr marL="693738" indent="-119063"/>
            <a:r>
              <a:rPr lang="en-US" dirty="0"/>
              <a:t>Updates (adds, deletes, edits, changes) data records and files </a:t>
            </a:r>
          </a:p>
          <a:p>
            <a:pPr marL="693738" indent="-119063"/>
            <a:r>
              <a:rPr lang="en-US" dirty="0"/>
              <a:t>Interrelates data from different sources </a:t>
            </a:r>
          </a:p>
          <a:p>
            <a:pPr marL="693738" indent="-119063"/>
            <a:r>
              <a:rPr lang="en-US" dirty="0"/>
              <a:t>Retrieves data from the database for queries and reports </a:t>
            </a:r>
          </a:p>
          <a:p>
            <a:pPr marL="693738" indent="-119063"/>
            <a:r>
              <a:rPr lang="en-US" dirty="0"/>
              <a:t>Provides comprehensive data security (protection from unauthorized access, recovery capabilities, etc.) </a:t>
            </a:r>
          </a:p>
          <a:p>
            <a:pPr marL="693738" indent="-119063"/>
            <a:r>
              <a:rPr lang="en-US" dirty="0"/>
              <a:t>Performs complex data manipulation tasks based on queries </a:t>
            </a:r>
          </a:p>
          <a:p>
            <a:pPr marL="693738" indent="-119063"/>
            <a:r>
              <a:rPr lang="en-US" dirty="0"/>
              <a:t>Tracks data use within the DSS </a:t>
            </a:r>
          </a:p>
          <a:p>
            <a:pPr marL="693738" indent="-119063"/>
            <a:r>
              <a:rPr lang="en-US" dirty="0"/>
              <a:t>Manages data through a data dictionary </a:t>
            </a:r>
          </a:p>
          <a:p>
            <a:pPr algn="just"/>
            <a:endParaRPr lang="en-US" dirty="0"/>
          </a:p>
        </p:txBody>
      </p:sp>
    </p:spTree>
    <p:extLst>
      <p:ext uri="{BB962C8B-B14F-4D97-AF65-F5344CB8AC3E}">
        <p14:creationId xmlns:p14="http://schemas.microsoft.com/office/powerpoint/2010/main" val="859065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fontScale="92500" lnSpcReduction="20000"/>
          </a:bodyPr>
          <a:lstStyle/>
          <a:p>
            <a:pPr marL="0" indent="0" algn="just">
              <a:buNone/>
            </a:pPr>
            <a:r>
              <a:rPr lang="en-US" dirty="0">
                <a:solidFill>
                  <a:srgbClr val="FF0000"/>
                </a:solidFill>
              </a:rPr>
              <a:t>3- </a:t>
            </a:r>
            <a:r>
              <a:rPr lang="en-US" b="1" dirty="0">
                <a:solidFill>
                  <a:srgbClr val="FF0000"/>
                </a:solidFill>
              </a:rPr>
              <a:t>Data Directory </a:t>
            </a:r>
            <a:endParaRPr lang="en-US" dirty="0">
              <a:solidFill>
                <a:srgbClr val="FF0000"/>
              </a:solidFill>
            </a:endParaRPr>
          </a:p>
          <a:p>
            <a:pPr marL="0" indent="0" algn="just">
              <a:buNone/>
            </a:pPr>
            <a:r>
              <a:rPr lang="en-US" dirty="0"/>
              <a:t>The data directory is a catalog of all the data in the database. It contains data definition, and its main function is to answer questions about : </a:t>
            </a:r>
          </a:p>
          <a:p>
            <a:pPr marL="1150938" indent="-60325" algn="just"/>
            <a:r>
              <a:rPr lang="en-US" dirty="0"/>
              <a:t>Availability of data items. </a:t>
            </a:r>
          </a:p>
          <a:p>
            <a:pPr marL="1150938" indent="-60325" algn="just"/>
            <a:r>
              <a:rPr lang="en-US" dirty="0"/>
              <a:t>Their sources. </a:t>
            </a:r>
          </a:p>
          <a:p>
            <a:pPr marL="1150938" indent="-60325" algn="just"/>
            <a:r>
              <a:rPr lang="en-US" dirty="0"/>
              <a:t>Their exact meaning. </a:t>
            </a:r>
          </a:p>
          <a:p>
            <a:pPr marL="0" indent="0" algn="just">
              <a:buNone/>
            </a:pPr>
            <a:r>
              <a:rPr lang="en-US" dirty="0"/>
              <a:t>The directory is especially appropriate for supporting the intelligence phase. </a:t>
            </a:r>
          </a:p>
          <a:p>
            <a:pPr marL="0" indent="0" algn="just">
              <a:buNone/>
            </a:pPr>
            <a:r>
              <a:rPr lang="en-US" dirty="0"/>
              <a:t>The directory supports: </a:t>
            </a:r>
          </a:p>
          <a:p>
            <a:pPr indent="231775" algn="just"/>
            <a:r>
              <a:rPr lang="en-US" dirty="0"/>
              <a:t>The addition of new entries. </a:t>
            </a:r>
          </a:p>
          <a:p>
            <a:pPr indent="231775" algn="just"/>
            <a:r>
              <a:rPr lang="en-US" dirty="0"/>
              <a:t>Deletion of entries </a:t>
            </a:r>
          </a:p>
          <a:p>
            <a:pPr indent="231775" algn="just"/>
            <a:r>
              <a:rPr lang="en-US" dirty="0"/>
              <a:t>Retrieval of information on specific objects </a:t>
            </a:r>
          </a:p>
          <a:p>
            <a:pPr algn="just"/>
            <a:endParaRPr lang="en-US" dirty="0"/>
          </a:p>
        </p:txBody>
      </p:sp>
    </p:spTree>
    <p:extLst>
      <p:ext uri="{BB962C8B-B14F-4D97-AF65-F5344CB8AC3E}">
        <p14:creationId xmlns:p14="http://schemas.microsoft.com/office/powerpoint/2010/main" val="82508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b="1" dirty="0"/>
              <a:t>Data Management Subsystem</a:t>
            </a:r>
            <a:endParaRPr lang="en-US" dirty="0"/>
          </a:p>
        </p:txBody>
      </p:sp>
      <p:sp>
        <p:nvSpPr>
          <p:cNvPr id="3" name="Content Placeholder 2"/>
          <p:cNvSpPr>
            <a:spLocks noGrp="1"/>
          </p:cNvSpPr>
          <p:nvPr>
            <p:ph idx="1"/>
          </p:nvPr>
        </p:nvSpPr>
        <p:spPr>
          <a:xfrm>
            <a:off x="152400" y="914400"/>
            <a:ext cx="8839200" cy="5791200"/>
          </a:xfrm>
        </p:spPr>
        <p:txBody>
          <a:bodyPr>
            <a:normAutofit/>
          </a:bodyPr>
          <a:lstStyle/>
          <a:p>
            <a:pPr marL="0" indent="0">
              <a:buNone/>
            </a:pPr>
            <a:r>
              <a:rPr lang="en-US" dirty="0">
                <a:solidFill>
                  <a:srgbClr val="FF0000"/>
                </a:solidFill>
              </a:rPr>
              <a:t>4- </a:t>
            </a:r>
            <a:r>
              <a:rPr lang="en-US" b="1" dirty="0">
                <a:solidFill>
                  <a:srgbClr val="FF0000"/>
                </a:solidFill>
              </a:rPr>
              <a:t>The Query Facility </a:t>
            </a:r>
            <a:endParaRPr lang="en-US" dirty="0">
              <a:solidFill>
                <a:srgbClr val="FF0000"/>
              </a:solidFill>
            </a:endParaRPr>
          </a:p>
          <a:p>
            <a:pPr marL="0" indent="0">
              <a:buNone/>
            </a:pPr>
            <a:r>
              <a:rPr lang="en-US" dirty="0"/>
              <a:t>The query facility performs the following tasks: </a:t>
            </a:r>
          </a:p>
          <a:p>
            <a:pPr marL="633413" indent="-58738"/>
            <a:r>
              <a:rPr lang="en-US" dirty="0"/>
              <a:t>Access, manipulate, and query data. </a:t>
            </a:r>
          </a:p>
          <a:p>
            <a:pPr marL="633413" indent="-58738"/>
            <a:r>
              <a:rPr lang="en-US" dirty="0"/>
              <a:t>It accepts requests for data from other DSS components. </a:t>
            </a:r>
          </a:p>
          <a:p>
            <a:pPr marL="633413" indent="-58738"/>
            <a:r>
              <a:rPr lang="en-US" dirty="0"/>
              <a:t>Determines how the requests can be filled. </a:t>
            </a:r>
          </a:p>
          <a:p>
            <a:pPr marL="633413" indent="-58738"/>
            <a:r>
              <a:rPr lang="en-US" dirty="0"/>
              <a:t>Formulates the detailed requests. </a:t>
            </a:r>
          </a:p>
          <a:p>
            <a:pPr marL="633413" indent="-58738"/>
            <a:r>
              <a:rPr lang="en-US" dirty="0"/>
              <a:t>Return the results to the issuer of the request. </a:t>
            </a:r>
          </a:p>
          <a:p>
            <a:pPr algn="just"/>
            <a:endParaRPr lang="en-US" dirty="0"/>
          </a:p>
        </p:txBody>
      </p:sp>
    </p:spTree>
    <p:extLst>
      <p:ext uri="{BB962C8B-B14F-4D97-AF65-F5344CB8AC3E}">
        <p14:creationId xmlns:p14="http://schemas.microsoft.com/office/powerpoint/2010/main" val="4167142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71600"/>
          </a:xfrm>
        </p:spPr>
        <p:txBody>
          <a:bodyPr>
            <a:normAutofit fontScale="90000"/>
          </a:bodyPr>
          <a:lstStyle/>
          <a:p>
            <a:r>
              <a:rPr lang="en-US" dirty="0"/>
              <a:t> </a:t>
            </a:r>
            <a:r>
              <a:rPr lang="en-US" b="1" dirty="0"/>
              <a:t>DSS Components</a:t>
            </a:r>
            <a:br>
              <a:rPr lang="en-US" b="1" dirty="0"/>
            </a:br>
            <a:r>
              <a:rPr lang="en-US" b="1" dirty="0"/>
              <a:t>Model Management Subsystem </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47800"/>
            <a:ext cx="8839200" cy="523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0385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fontScale="90000"/>
          </a:bodyPr>
          <a:lstStyle/>
          <a:p>
            <a:br>
              <a:rPr lang="en-US" dirty="0"/>
            </a:br>
            <a:r>
              <a:rPr lang="en-US" dirty="0"/>
              <a:t> </a:t>
            </a:r>
            <a:r>
              <a:rPr lang="en-US" b="1" dirty="0"/>
              <a:t>DSS Components: </a:t>
            </a:r>
            <a:br>
              <a:rPr lang="en-US" b="1" dirty="0"/>
            </a:br>
            <a:r>
              <a:rPr lang="en-US" b="1" dirty="0"/>
              <a:t>Model Management Subsystem </a:t>
            </a:r>
            <a:endParaRPr lang="en-US" dirty="0"/>
          </a:p>
        </p:txBody>
      </p:sp>
      <p:sp>
        <p:nvSpPr>
          <p:cNvPr id="25603" name="Content Placeholder 2"/>
          <p:cNvSpPr>
            <a:spLocks noGrp="1"/>
          </p:cNvSpPr>
          <p:nvPr>
            <p:ph idx="1"/>
          </p:nvPr>
        </p:nvSpPr>
        <p:spPr>
          <a:xfrm>
            <a:off x="152400" y="1905000"/>
            <a:ext cx="8839200" cy="4724400"/>
          </a:xfrm>
        </p:spPr>
        <p:txBody>
          <a:bodyPr>
            <a:normAutofit/>
          </a:bodyPr>
          <a:lstStyle/>
          <a:p>
            <a:pPr marL="0" indent="0">
              <a:buNone/>
            </a:pPr>
            <a:r>
              <a:rPr lang="en-US" b="1" dirty="0">
                <a:solidFill>
                  <a:srgbClr val="FF0000"/>
                </a:solidFill>
              </a:rPr>
              <a:t>Model Management Subsystem components:</a:t>
            </a:r>
            <a:endParaRPr lang="en-US" dirty="0">
              <a:solidFill>
                <a:srgbClr val="FF0000"/>
              </a:solidFill>
            </a:endParaRPr>
          </a:p>
          <a:p>
            <a:r>
              <a:rPr lang="en-US" dirty="0"/>
              <a:t>Model base </a:t>
            </a:r>
          </a:p>
          <a:p>
            <a:r>
              <a:rPr lang="en-US" dirty="0"/>
              <a:t>MBMS </a:t>
            </a:r>
          </a:p>
          <a:p>
            <a:r>
              <a:rPr lang="en-US" dirty="0"/>
              <a:t>Modeling language </a:t>
            </a:r>
          </a:p>
          <a:p>
            <a:r>
              <a:rPr lang="en-US" dirty="0"/>
              <a:t>Model directory </a:t>
            </a:r>
          </a:p>
          <a:p>
            <a:r>
              <a:rPr lang="en-US" dirty="0"/>
              <a:t>Model execution, integration, and command processor </a:t>
            </a:r>
          </a:p>
        </p:txBody>
      </p:sp>
    </p:spTree>
    <p:extLst>
      <p:ext uri="{BB962C8B-B14F-4D97-AF65-F5344CB8AC3E}">
        <p14:creationId xmlns:p14="http://schemas.microsoft.com/office/powerpoint/2010/main" val="1391502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a:t>Model Management Subsystem </a:t>
            </a:r>
            <a:endParaRPr lang="en-US" dirty="0"/>
          </a:p>
        </p:txBody>
      </p:sp>
      <p:sp>
        <p:nvSpPr>
          <p:cNvPr id="25603" name="Content Placeholder 2"/>
          <p:cNvSpPr>
            <a:spLocks noGrp="1"/>
          </p:cNvSpPr>
          <p:nvPr>
            <p:ph idx="1"/>
          </p:nvPr>
        </p:nvSpPr>
        <p:spPr>
          <a:xfrm>
            <a:off x="152400" y="1066800"/>
            <a:ext cx="8839200" cy="5562600"/>
          </a:xfrm>
        </p:spPr>
        <p:txBody>
          <a:bodyPr>
            <a:normAutofit fontScale="62500" lnSpcReduction="20000"/>
          </a:bodyPr>
          <a:lstStyle/>
          <a:p>
            <a:pPr marL="0" indent="0">
              <a:buNone/>
            </a:pPr>
            <a:r>
              <a:rPr lang="en-US" sz="3600" dirty="0">
                <a:solidFill>
                  <a:srgbClr val="FF0000"/>
                </a:solidFill>
              </a:rPr>
              <a:t>1- </a:t>
            </a:r>
            <a:r>
              <a:rPr lang="en-US" sz="3600" b="1" dirty="0">
                <a:solidFill>
                  <a:srgbClr val="FF0000"/>
                </a:solidFill>
              </a:rPr>
              <a:t>Model base </a:t>
            </a:r>
            <a:endParaRPr lang="en-US" sz="3600" dirty="0">
              <a:solidFill>
                <a:srgbClr val="FF0000"/>
              </a:solidFill>
            </a:endParaRPr>
          </a:p>
          <a:p>
            <a:pPr marL="0" indent="0">
              <a:buNone/>
            </a:pPr>
            <a:r>
              <a:rPr lang="en-US" b="1" dirty="0"/>
              <a:t>Strategic Models </a:t>
            </a:r>
            <a:endParaRPr lang="en-US" dirty="0"/>
          </a:p>
          <a:p>
            <a:pPr marL="1031875" indent="163513"/>
            <a:r>
              <a:rPr lang="en-US" dirty="0"/>
              <a:t>Support top management decisions. </a:t>
            </a:r>
          </a:p>
          <a:p>
            <a:pPr marL="1031875" indent="163513"/>
            <a:r>
              <a:rPr lang="en-US" dirty="0"/>
              <a:t>Planning for mergers and acquisitions. </a:t>
            </a:r>
          </a:p>
          <a:p>
            <a:pPr marL="0" indent="0">
              <a:buNone/>
            </a:pPr>
            <a:endParaRPr lang="en-US" b="1" dirty="0"/>
          </a:p>
          <a:p>
            <a:pPr marL="0" indent="0">
              <a:buNone/>
            </a:pPr>
            <a:r>
              <a:rPr lang="en-US" b="1" dirty="0"/>
              <a:t>Tactical Models </a:t>
            </a:r>
            <a:endParaRPr lang="en-US" dirty="0"/>
          </a:p>
          <a:p>
            <a:pPr marL="1195388" indent="-163513"/>
            <a:r>
              <a:rPr lang="en-US" dirty="0"/>
              <a:t>Support middle management </a:t>
            </a:r>
          </a:p>
          <a:p>
            <a:pPr marL="1195388" indent="-163513"/>
            <a:r>
              <a:rPr lang="en-US" dirty="0"/>
              <a:t>Assist in allocating and controlling the organization’s resources. </a:t>
            </a:r>
          </a:p>
          <a:p>
            <a:pPr marL="0" indent="0">
              <a:buNone/>
            </a:pPr>
            <a:endParaRPr lang="en-US" dirty="0"/>
          </a:p>
          <a:p>
            <a:pPr marL="0" indent="0">
              <a:buNone/>
            </a:pPr>
            <a:r>
              <a:rPr lang="en-US" b="1" dirty="0"/>
              <a:t>Operational Models </a:t>
            </a:r>
            <a:endParaRPr lang="en-US" dirty="0"/>
          </a:p>
          <a:p>
            <a:pPr marL="574675" indent="-117475"/>
            <a:r>
              <a:rPr lang="en-US" dirty="0"/>
              <a:t> Support the day to day working activities of the organization. </a:t>
            </a:r>
          </a:p>
          <a:p>
            <a:pPr marL="574675" indent="-117475"/>
            <a:r>
              <a:rPr lang="en-US" dirty="0"/>
              <a:t> Support first line managers’ decision making with a daily to monthly time horizon. </a:t>
            </a:r>
          </a:p>
          <a:p>
            <a:endParaRPr lang="en-US" dirty="0"/>
          </a:p>
          <a:p>
            <a:pPr marL="0" indent="0">
              <a:buNone/>
            </a:pPr>
            <a:r>
              <a:rPr lang="en-US" b="1" dirty="0"/>
              <a:t>Analytical models </a:t>
            </a:r>
            <a:endParaRPr lang="en-US" dirty="0"/>
          </a:p>
          <a:p>
            <a:pPr marL="457200" indent="58738"/>
            <a:r>
              <a:rPr lang="en-US" dirty="0"/>
              <a:t> Used to perform some analysis on the data. </a:t>
            </a:r>
          </a:p>
          <a:p>
            <a:pPr marL="457200" indent="58738"/>
            <a:r>
              <a:rPr lang="en-US" dirty="0"/>
              <a:t> Include statistical models, management science models, data mining algorithms and financial models. </a:t>
            </a:r>
          </a:p>
          <a:p>
            <a:pPr marL="574675" indent="-117475"/>
            <a:endParaRPr lang="en-US" dirty="0"/>
          </a:p>
        </p:txBody>
      </p:sp>
    </p:spTree>
    <p:extLst>
      <p:ext uri="{BB962C8B-B14F-4D97-AF65-F5344CB8AC3E}">
        <p14:creationId xmlns:p14="http://schemas.microsoft.com/office/powerpoint/2010/main" val="354439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a:t>Model Management Subsystem </a:t>
            </a:r>
            <a:endParaRPr lang="en-US" dirty="0"/>
          </a:p>
        </p:txBody>
      </p:sp>
      <p:sp>
        <p:nvSpPr>
          <p:cNvPr id="25603" name="Content Placeholder 2"/>
          <p:cNvSpPr>
            <a:spLocks noGrp="1"/>
          </p:cNvSpPr>
          <p:nvPr>
            <p:ph idx="1"/>
          </p:nvPr>
        </p:nvSpPr>
        <p:spPr>
          <a:xfrm>
            <a:off x="152400" y="1066800"/>
            <a:ext cx="8839200" cy="5562600"/>
          </a:xfrm>
        </p:spPr>
        <p:txBody>
          <a:bodyPr>
            <a:normAutofit fontScale="85000" lnSpcReduction="20000"/>
          </a:bodyPr>
          <a:lstStyle/>
          <a:p>
            <a:pPr marL="0" indent="0">
              <a:buNone/>
            </a:pPr>
            <a:r>
              <a:rPr lang="en-US" sz="3600" dirty="0">
                <a:solidFill>
                  <a:srgbClr val="FF0000"/>
                </a:solidFill>
              </a:rPr>
              <a:t>1- </a:t>
            </a:r>
            <a:r>
              <a:rPr lang="en-US" sz="3600" b="1" dirty="0">
                <a:solidFill>
                  <a:srgbClr val="FF0000"/>
                </a:solidFill>
              </a:rPr>
              <a:t>Model base </a:t>
            </a:r>
            <a:endParaRPr lang="en-US" sz="3600" dirty="0">
              <a:solidFill>
                <a:srgbClr val="FF0000"/>
              </a:solidFill>
            </a:endParaRPr>
          </a:p>
          <a:p>
            <a:pPr marL="0" indent="0">
              <a:buNone/>
            </a:pPr>
            <a:r>
              <a:rPr lang="en-US" b="1" dirty="0">
                <a:solidFill>
                  <a:schemeClr val="accent6">
                    <a:lumMod val="75000"/>
                  </a:schemeClr>
                </a:solidFill>
              </a:rPr>
              <a:t>Model building blocks and routines </a:t>
            </a:r>
            <a:endParaRPr lang="en-US" dirty="0">
              <a:solidFill>
                <a:schemeClr val="accent6">
                  <a:lumMod val="75000"/>
                </a:schemeClr>
              </a:solidFill>
            </a:endParaRPr>
          </a:p>
          <a:p>
            <a:r>
              <a:rPr lang="en-US" dirty="0"/>
              <a:t>Preprogrammed software elements that can be used to build computerized models. </a:t>
            </a:r>
          </a:p>
          <a:p>
            <a:r>
              <a:rPr lang="en-US" dirty="0"/>
              <a:t>Examples: a present value computational routine and regression analysis. </a:t>
            </a:r>
          </a:p>
          <a:p>
            <a:r>
              <a:rPr lang="en-US" dirty="0"/>
              <a:t>Used in several ways: </a:t>
            </a:r>
          </a:p>
          <a:p>
            <a:pPr marL="973138" indent="-234950">
              <a:buNone/>
            </a:pPr>
            <a:r>
              <a:rPr lang="en-US" dirty="0"/>
              <a:t>1. They can be employed on their own for such applications as data analysis. </a:t>
            </a:r>
          </a:p>
          <a:p>
            <a:pPr marL="973138" indent="-234950">
              <a:buNone/>
            </a:pPr>
            <a:r>
              <a:rPr lang="en-US" dirty="0"/>
              <a:t>2. They can also be used as components of large models. </a:t>
            </a:r>
          </a:p>
          <a:p>
            <a:pPr marL="973138" indent="-234950">
              <a:buNone/>
            </a:pPr>
            <a:r>
              <a:rPr lang="en-US" dirty="0"/>
              <a:t>   For example, a present value component can be part of a make or buy model. </a:t>
            </a:r>
          </a:p>
          <a:p>
            <a:r>
              <a:rPr lang="en-US" dirty="0"/>
              <a:t>Such building blocks are available in DSS commercial development software such as the functions in Excel. </a:t>
            </a:r>
          </a:p>
          <a:p>
            <a:pPr marL="574675" indent="-117475"/>
            <a:endParaRPr lang="en-US" dirty="0"/>
          </a:p>
        </p:txBody>
      </p:sp>
    </p:spTree>
    <p:extLst>
      <p:ext uri="{BB962C8B-B14F-4D97-AF65-F5344CB8AC3E}">
        <p14:creationId xmlns:p14="http://schemas.microsoft.com/office/powerpoint/2010/main" val="1288789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a:t>Model Management Subsystem </a:t>
            </a:r>
            <a:endParaRPr lang="en-US" dirty="0"/>
          </a:p>
        </p:txBody>
      </p:sp>
      <p:sp>
        <p:nvSpPr>
          <p:cNvPr id="25603" name="Content Placeholder 2"/>
          <p:cNvSpPr>
            <a:spLocks noGrp="1"/>
          </p:cNvSpPr>
          <p:nvPr>
            <p:ph idx="1"/>
          </p:nvPr>
        </p:nvSpPr>
        <p:spPr>
          <a:xfrm>
            <a:off x="152400" y="1066800"/>
            <a:ext cx="8839200" cy="5562600"/>
          </a:xfrm>
        </p:spPr>
        <p:txBody>
          <a:bodyPr>
            <a:normAutofit fontScale="85000" lnSpcReduction="20000"/>
          </a:bodyPr>
          <a:lstStyle/>
          <a:p>
            <a:pPr marL="0" indent="0">
              <a:buNone/>
            </a:pPr>
            <a:r>
              <a:rPr lang="en-US" b="1" dirty="0">
                <a:solidFill>
                  <a:srgbClr val="FF0000"/>
                </a:solidFill>
              </a:rPr>
              <a:t>2- Model Base Management Systems </a:t>
            </a:r>
            <a:endParaRPr lang="en-US" dirty="0">
              <a:solidFill>
                <a:srgbClr val="FF0000"/>
              </a:solidFill>
            </a:endParaRPr>
          </a:p>
          <a:p>
            <a:pPr marL="0" indent="0">
              <a:buNone/>
            </a:pPr>
            <a:r>
              <a:rPr lang="en-US" u="sng" dirty="0"/>
              <a:t>Major functions of MBMS </a:t>
            </a:r>
          </a:p>
          <a:p>
            <a:r>
              <a:rPr lang="en-US" dirty="0"/>
              <a:t>Creates models easily and quickly. </a:t>
            </a:r>
          </a:p>
          <a:p>
            <a:r>
              <a:rPr lang="en-US" dirty="0"/>
              <a:t>Allows users to manipulate models. </a:t>
            </a:r>
          </a:p>
          <a:p>
            <a:r>
              <a:rPr lang="en-US" dirty="0"/>
              <a:t>Stores, retrieves, and manages a wide variety of different types of models in a logical and integrated manner. </a:t>
            </a:r>
          </a:p>
          <a:p>
            <a:r>
              <a:rPr lang="en-US" dirty="0"/>
              <a:t>Access and integrate the model building blocks. </a:t>
            </a:r>
          </a:p>
          <a:p>
            <a:r>
              <a:rPr lang="en-US" dirty="0"/>
              <a:t>Catalogs and display the directory of models for use by several individuals in the organization. </a:t>
            </a:r>
          </a:p>
          <a:p>
            <a:r>
              <a:rPr lang="en-US" dirty="0"/>
              <a:t>Tracks model data and application use. </a:t>
            </a:r>
          </a:p>
          <a:p>
            <a:r>
              <a:rPr lang="en-US" dirty="0"/>
              <a:t>Interrelates models with appropriate linkages with the database and integrates them within the DSS. </a:t>
            </a:r>
          </a:p>
          <a:p>
            <a:r>
              <a:rPr lang="en-US" dirty="0"/>
              <a:t>Manages and maintains the model base: Store, access, run, update, link, catalog, and query. </a:t>
            </a:r>
          </a:p>
          <a:p>
            <a:pPr marL="574675" indent="-117475"/>
            <a:endParaRPr lang="en-US" dirty="0"/>
          </a:p>
        </p:txBody>
      </p:sp>
    </p:spTree>
    <p:extLst>
      <p:ext uri="{BB962C8B-B14F-4D97-AF65-F5344CB8AC3E}">
        <p14:creationId xmlns:p14="http://schemas.microsoft.com/office/powerpoint/2010/main" val="2531953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a:t>Model Management Subsystem </a:t>
            </a:r>
            <a:endParaRPr lang="en-US" dirty="0"/>
          </a:p>
        </p:txBody>
      </p:sp>
      <p:sp>
        <p:nvSpPr>
          <p:cNvPr id="25603" name="Content Placeholder 2"/>
          <p:cNvSpPr>
            <a:spLocks noGrp="1"/>
          </p:cNvSpPr>
          <p:nvPr>
            <p:ph idx="1"/>
          </p:nvPr>
        </p:nvSpPr>
        <p:spPr>
          <a:xfrm>
            <a:off x="152400" y="1143000"/>
            <a:ext cx="8839200" cy="5562600"/>
          </a:xfrm>
        </p:spPr>
        <p:txBody>
          <a:bodyPr>
            <a:normAutofit fontScale="77500" lnSpcReduction="20000"/>
          </a:bodyPr>
          <a:lstStyle/>
          <a:p>
            <a:pPr marL="0" indent="0">
              <a:buNone/>
            </a:pPr>
            <a:r>
              <a:rPr lang="en-US" dirty="0">
                <a:solidFill>
                  <a:srgbClr val="FF0000"/>
                </a:solidFill>
              </a:rPr>
              <a:t>3- Modeling language </a:t>
            </a:r>
          </a:p>
          <a:p>
            <a:r>
              <a:rPr lang="en-US" dirty="0"/>
              <a:t>.NET Framework languages, </a:t>
            </a:r>
          </a:p>
          <a:p>
            <a:r>
              <a:rPr lang="en-US" dirty="0"/>
              <a:t>C++, </a:t>
            </a:r>
          </a:p>
          <a:p>
            <a:r>
              <a:rPr lang="en-US" dirty="0"/>
              <a:t>Java, </a:t>
            </a:r>
          </a:p>
          <a:p>
            <a:r>
              <a:rPr lang="en-US" dirty="0"/>
              <a:t>OLAP (work with models in data analysis), </a:t>
            </a:r>
          </a:p>
          <a:p>
            <a:r>
              <a:rPr lang="en-US" dirty="0"/>
              <a:t>SLAM (Simulation Language for Alternative Modeling), </a:t>
            </a:r>
          </a:p>
          <a:p>
            <a:r>
              <a:rPr lang="en-US" dirty="0"/>
              <a:t>SPSS (statistical packages)………, </a:t>
            </a:r>
          </a:p>
          <a:p>
            <a:endParaRPr lang="en-US" dirty="0"/>
          </a:p>
          <a:p>
            <a:pPr marL="0" indent="0">
              <a:buNone/>
            </a:pPr>
            <a:r>
              <a:rPr lang="en-US" b="1" dirty="0">
                <a:solidFill>
                  <a:srgbClr val="FF0000"/>
                </a:solidFill>
              </a:rPr>
              <a:t>4- MODEL DIRECTORY </a:t>
            </a:r>
            <a:endParaRPr lang="en-US" dirty="0">
              <a:solidFill>
                <a:srgbClr val="FF0000"/>
              </a:solidFill>
            </a:endParaRPr>
          </a:p>
          <a:p>
            <a:r>
              <a:rPr lang="en-US" dirty="0"/>
              <a:t>The role of model directory is similar to that of database directory. It is a catalog of all the models and other software in the model base. </a:t>
            </a:r>
          </a:p>
          <a:p>
            <a:r>
              <a:rPr lang="en-US" dirty="0"/>
              <a:t>It contains model definitions, and its main function is to answer questions about the availability and capability of the models. </a:t>
            </a:r>
          </a:p>
        </p:txBody>
      </p:sp>
    </p:spTree>
    <p:extLst>
      <p:ext uri="{BB962C8B-B14F-4D97-AF65-F5344CB8AC3E}">
        <p14:creationId xmlns:p14="http://schemas.microsoft.com/office/powerpoint/2010/main" val="364656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a:t>Model Management Subsystem </a:t>
            </a:r>
            <a:endParaRPr lang="en-US" dirty="0"/>
          </a:p>
        </p:txBody>
      </p:sp>
      <p:sp>
        <p:nvSpPr>
          <p:cNvPr id="25603" name="Content Placeholder 2"/>
          <p:cNvSpPr>
            <a:spLocks noGrp="1"/>
          </p:cNvSpPr>
          <p:nvPr>
            <p:ph idx="1"/>
          </p:nvPr>
        </p:nvSpPr>
        <p:spPr>
          <a:xfrm>
            <a:off x="152400" y="1143000"/>
            <a:ext cx="8839200" cy="5562600"/>
          </a:xfrm>
        </p:spPr>
        <p:txBody>
          <a:bodyPr>
            <a:normAutofit/>
          </a:bodyPr>
          <a:lstStyle/>
          <a:p>
            <a:pPr marL="0" indent="0">
              <a:buNone/>
            </a:pPr>
            <a:r>
              <a:rPr lang="en-US" b="1" dirty="0">
                <a:solidFill>
                  <a:srgbClr val="FF0000"/>
                </a:solidFill>
              </a:rPr>
              <a:t>5- Model Management Activities </a:t>
            </a:r>
            <a:endParaRPr lang="en-US" dirty="0">
              <a:solidFill>
                <a:srgbClr val="FF0000"/>
              </a:solidFill>
            </a:endParaRPr>
          </a:p>
          <a:p>
            <a:pPr marL="0" indent="0">
              <a:buNone/>
            </a:pPr>
            <a:r>
              <a:rPr lang="en-US" b="1" dirty="0"/>
              <a:t>Model execution </a:t>
            </a:r>
            <a:endParaRPr lang="en-US" dirty="0"/>
          </a:p>
          <a:p>
            <a:r>
              <a:rPr lang="en-US" dirty="0"/>
              <a:t>Controls running of model </a:t>
            </a:r>
          </a:p>
          <a:p>
            <a:pPr marL="0" indent="0">
              <a:buNone/>
            </a:pPr>
            <a:r>
              <a:rPr lang="en-US" b="1" dirty="0"/>
              <a:t>Model command processor </a:t>
            </a:r>
            <a:endParaRPr lang="en-US" dirty="0"/>
          </a:p>
          <a:p>
            <a:r>
              <a:rPr lang="en-US" dirty="0"/>
              <a:t>Receives model instructions from user interface </a:t>
            </a:r>
          </a:p>
          <a:p>
            <a:r>
              <a:rPr lang="en-US" dirty="0"/>
              <a:t>Routes instructions to MBMS or module execution or integration functions </a:t>
            </a:r>
          </a:p>
          <a:p>
            <a:pPr marL="0" indent="0">
              <a:buNone/>
            </a:pPr>
            <a:r>
              <a:rPr lang="en-US" b="1" dirty="0"/>
              <a:t>Model integration </a:t>
            </a:r>
            <a:endParaRPr lang="en-US" dirty="0"/>
          </a:p>
          <a:p>
            <a:r>
              <a:rPr lang="en-US" dirty="0"/>
              <a:t>Combines several models’ operations </a:t>
            </a:r>
          </a:p>
        </p:txBody>
      </p:sp>
    </p:spTree>
    <p:extLst>
      <p:ext uri="{BB962C8B-B14F-4D97-AF65-F5344CB8AC3E}">
        <p14:creationId xmlns:p14="http://schemas.microsoft.com/office/powerpoint/2010/main" val="1631204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15988</TotalTime>
  <Words>1122</Words>
  <Application>Microsoft Office PowerPoint</Application>
  <PresentationFormat>On-screen Show (4:3)</PresentationFormat>
  <Paragraphs>152</Paragraphs>
  <Slides>18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Decision Support Systems</vt:lpstr>
      <vt:lpstr>Components of DSS</vt:lpstr>
      <vt:lpstr>Components of DSS</vt:lpstr>
      <vt:lpstr>DSS Components and Web Impacts </vt:lpstr>
      <vt:lpstr>Data Management Subsystem</vt:lpstr>
      <vt:lpstr>Data Management Subsystem</vt:lpstr>
      <vt:lpstr>Data Management Subsystem</vt:lpstr>
      <vt:lpstr>Data Management Subsystem</vt:lpstr>
      <vt:lpstr>Data Management Subsystem</vt:lpstr>
      <vt:lpstr>Data Management Subsystem</vt:lpstr>
      <vt:lpstr>Data Management Subsystem</vt:lpstr>
      <vt:lpstr> DSS Components Model Management Subsystem </vt:lpstr>
      <vt:lpstr>  DSS Components:  Model Management Subsystem </vt:lpstr>
      <vt:lpstr>Model Management Subsystem </vt:lpstr>
      <vt:lpstr>Model Management Subsystem </vt:lpstr>
      <vt:lpstr>Model Management Subsystem </vt:lpstr>
      <vt:lpstr>Model Management Subsystem </vt:lpstr>
      <vt:lpstr>Model Management Subsystem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Support Systems</dc:title>
  <dc:creator>Shahd</dc:creator>
  <cp:lastModifiedBy>DELL</cp:lastModifiedBy>
  <cp:revision>127</cp:revision>
  <dcterms:created xsi:type="dcterms:W3CDTF">2020-02-07T12:29:02Z</dcterms:created>
  <dcterms:modified xsi:type="dcterms:W3CDTF">2021-05-15T22:48:04Z</dcterms:modified>
</cp:coreProperties>
</file>